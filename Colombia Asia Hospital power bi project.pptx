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95" r:id="rId7"/>
    <p:sldId id="284" r:id="rId8"/>
    <p:sldId id="287" r:id="rId9"/>
    <p:sldId id="288" r:id="rId10"/>
    <p:sldId id="289" r:id="rId11"/>
    <p:sldId id="285" r:id="rId12"/>
    <p:sldId id="286" r:id="rId13"/>
    <p:sldId id="291" r:id="rId14"/>
    <p:sldId id="292" r:id="rId15"/>
    <p:sldId id="293" r:id="rId16"/>
    <p:sldId id="294" r:id="rId17"/>
    <p:sldId id="267" r:id="rId18"/>
    <p:sldId id="268" r:id="rId19"/>
    <p:sldId id="269" r:id="rId20"/>
    <p:sldId id="270" r:id="rId21"/>
    <p:sldId id="280" r:id="rId22"/>
    <p:sldId id="271" r:id="rId23"/>
  </p:sldIdLst>
  <p:sldSz cx="18288000" cy="10287000"/>
  <p:notesSz cx="6858000" cy="9144000"/>
  <p:embeddedFontLst>
    <p:embeddedFont>
      <p:font typeface="Alice" panose="020B0604020202020204" charset="0"/>
      <p:regular r:id="rId24"/>
    </p:embeddedFont>
    <p:embeddedFont>
      <p:font typeface="Aptos Narrow" panose="020B0004020202020204" pitchFamily="34" charset="0"/>
      <p:regular r:id="rId25"/>
      <p:bold r:id="rId26"/>
    </p:embeddedFont>
    <p:embeddedFont>
      <p:font typeface="Cambria" panose="02040503050406030204" pitchFamily="18" charset="0"/>
      <p:regular r:id="rId27"/>
      <p:bold r:id="rId28"/>
      <p:italic r:id="rId29"/>
      <p:boldItalic r:id="rId30"/>
    </p:embeddedFont>
    <p:embeddedFont>
      <p:font typeface="Coco Gothic Bold" panose="020B0604020202020204" charset="0"/>
      <p:regular r:id="rId31"/>
    </p:embeddedFont>
    <p:embeddedFont>
      <p:font typeface="Cooper Hewitt" panose="020B0604020202020204" charset="0"/>
      <p:regular r:id="rId32"/>
    </p:embeddedFont>
    <p:embeddedFont>
      <p:font typeface="Raleway Medium" pitchFamily="2" charset="0"/>
      <p:regular r:id="rId33"/>
    </p:embeddedFont>
    <p:embeddedFont>
      <p:font typeface="TAN Headline"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442"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roblem">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5760CB-267C-4B96-8D93-EA775230543A}"/>
              </a:ext>
            </a:extLst>
          </p:cNvPr>
          <p:cNvSpPr>
            <a:spLocks noGrp="1"/>
          </p:cNvSpPr>
          <p:nvPr>
            <p:ph type="dt" sz="half" idx="10"/>
          </p:nvPr>
        </p:nvSpPr>
        <p:spPr/>
        <p:txBody>
          <a:bodyPr>
            <a:noAutofit/>
          </a:bodyPr>
          <a:lstStyle/>
          <a:p>
            <a:r>
              <a:rPr lang="en-US"/>
              <a:t>8/03/20XX</a:t>
            </a:r>
            <a:endParaRPr lang="en-US" dirty="0"/>
          </a:p>
        </p:txBody>
      </p:sp>
      <p:sp>
        <p:nvSpPr>
          <p:cNvPr id="5" name="Footer Placeholder 4">
            <a:extLst>
              <a:ext uri="{FF2B5EF4-FFF2-40B4-BE49-F238E27FC236}">
                <a16:creationId xmlns:a16="http://schemas.microsoft.com/office/drawing/2014/main" id="{0D5F8915-ABFD-4CAE-AC61-1E1B2B1C6F04}"/>
              </a:ext>
            </a:extLst>
          </p:cNvPr>
          <p:cNvSpPr>
            <a:spLocks noGrp="1"/>
          </p:cNvSpPr>
          <p:nvPr>
            <p:ph type="ftr" sz="quarter" idx="11"/>
          </p:nvPr>
        </p:nvSpPr>
        <p:spPr/>
        <p:txBody>
          <a:bodyPr>
            <a:noAutofit/>
          </a:bodyPr>
          <a:lstStyle/>
          <a:p>
            <a:r>
              <a:rPr lang="en-US" dirty="0"/>
              <a:t>PITCH DECK</a:t>
            </a:r>
          </a:p>
        </p:txBody>
      </p:sp>
      <p:sp>
        <p:nvSpPr>
          <p:cNvPr id="6" name="Slide Number Placeholder 5">
            <a:extLst>
              <a:ext uri="{FF2B5EF4-FFF2-40B4-BE49-F238E27FC236}">
                <a16:creationId xmlns:a16="http://schemas.microsoft.com/office/drawing/2014/main" id="{27F7218A-692D-4EB0-817E-60AFD432FC84}"/>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9" name="Text Placeholder 10">
            <a:extLst>
              <a:ext uri="{FF2B5EF4-FFF2-40B4-BE49-F238E27FC236}">
                <a16:creationId xmlns:a16="http://schemas.microsoft.com/office/drawing/2014/main" id="{D5A4AB60-E1AB-4239-BFC7-C10A235B18E0}"/>
              </a:ext>
            </a:extLst>
          </p:cNvPr>
          <p:cNvSpPr>
            <a:spLocks noGrp="1"/>
          </p:cNvSpPr>
          <p:nvPr>
            <p:ph type="body" sz="quarter" idx="13" hasCustomPrompt="1"/>
          </p:nvPr>
        </p:nvSpPr>
        <p:spPr>
          <a:xfrm>
            <a:off x="1257301" y="4051349"/>
            <a:ext cx="4922333" cy="2209040"/>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0" name="Text Placeholder 10">
            <a:extLst>
              <a:ext uri="{FF2B5EF4-FFF2-40B4-BE49-F238E27FC236}">
                <a16:creationId xmlns:a16="http://schemas.microsoft.com/office/drawing/2014/main" id="{53300DCB-9114-4ADF-8664-EFDD2C7A6E6A}"/>
              </a:ext>
            </a:extLst>
          </p:cNvPr>
          <p:cNvSpPr>
            <a:spLocks noGrp="1"/>
          </p:cNvSpPr>
          <p:nvPr>
            <p:ph type="body" sz="quarter" idx="17" hasCustomPrompt="1"/>
          </p:nvPr>
        </p:nvSpPr>
        <p:spPr>
          <a:xfrm>
            <a:off x="1257301" y="3482095"/>
            <a:ext cx="4922333" cy="639590"/>
          </a:xfrm>
          <a:prstGeom prst="rect">
            <a:avLst/>
          </a:prstGeom>
        </p:spPr>
        <p:txBody>
          <a:bodyPr anchor="b">
            <a:noAutofit/>
          </a:bodyPr>
          <a:lstStyle>
            <a:lvl1pPr marL="0" indent="0" algn="l">
              <a:buNone/>
              <a:defRPr sz="2400" cap="all" spc="150" baseline="0">
                <a:solidFill>
                  <a:schemeClr val="accent4"/>
                </a:solidFill>
                <a:latin typeface="+mj-lt"/>
              </a:defRPr>
            </a:lvl1pPr>
          </a:lstStyle>
          <a:p>
            <a:pPr lvl="0"/>
            <a:r>
              <a:rPr lang="en-US"/>
              <a:t>Click to add subtitle</a:t>
            </a:r>
          </a:p>
        </p:txBody>
      </p:sp>
      <p:sp>
        <p:nvSpPr>
          <p:cNvPr id="11" name="Text Placeholder 10">
            <a:extLst>
              <a:ext uri="{FF2B5EF4-FFF2-40B4-BE49-F238E27FC236}">
                <a16:creationId xmlns:a16="http://schemas.microsoft.com/office/drawing/2014/main" id="{6B69E913-93AE-4878-BA45-C2A83F5ACE30}"/>
              </a:ext>
            </a:extLst>
          </p:cNvPr>
          <p:cNvSpPr>
            <a:spLocks noGrp="1"/>
          </p:cNvSpPr>
          <p:nvPr>
            <p:ph type="body" sz="quarter" idx="22" hasCustomPrompt="1"/>
          </p:nvPr>
        </p:nvSpPr>
        <p:spPr>
          <a:xfrm>
            <a:off x="1257301" y="7024775"/>
            <a:ext cx="4922333" cy="1601472"/>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2" name="Text Placeholder 10">
            <a:extLst>
              <a:ext uri="{FF2B5EF4-FFF2-40B4-BE49-F238E27FC236}">
                <a16:creationId xmlns:a16="http://schemas.microsoft.com/office/drawing/2014/main" id="{EF306DC8-5642-4A13-B67A-9BF5A74DB8BB}"/>
              </a:ext>
            </a:extLst>
          </p:cNvPr>
          <p:cNvSpPr>
            <a:spLocks noGrp="1"/>
          </p:cNvSpPr>
          <p:nvPr>
            <p:ph type="body" sz="quarter" idx="23" hasCustomPrompt="1"/>
          </p:nvPr>
        </p:nvSpPr>
        <p:spPr>
          <a:xfrm>
            <a:off x="1257301" y="6455519"/>
            <a:ext cx="4922333" cy="639590"/>
          </a:xfrm>
          <a:prstGeom prst="rect">
            <a:avLst/>
          </a:prstGeom>
        </p:spPr>
        <p:txBody>
          <a:bodyPr anchor="b">
            <a:noAutofit/>
          </a:bodyPr>
          <a:lstStyle>
            <a:lvl1pPr marL="0" indent="0" algn="l">
              <a:buNone/>
              <a:defRPr sz="2400" cap="all" spc="150" baseline="0">
                <a:solidFill>
                  <a:schemeClr val="accent4"/>
                </a:solidFill>
                <a:latin typeface="+mj-lt"/>
              </a:defRPr>
            </a:lvl1pPr>
          </a:lstStyle>
          <a:p>
            <a:pPr lvl="0"/>
            <a:r>
              <a:rPr lang="en-US"/>
              <a:t>Click to add subtitle</a:t>
            </a:r>
          </a:p>
        </p:txBody>
      </p:sp>
      <p:sp>
        <p:nvSpPr>
          <p:cNvPr id="13" name="Text Placeholder 10">
            <a:extLst>
              <a:ext uri="{FF2B5EF4-FFF2-40B4-BE49-F238E27FC236}">
                <a16:creationId xmlns:a16="http://schemas.microsoft.com/office/drawing/2014/main" id="{CC0CA179-9852-4BA8-8E7D-8C5F43775EA9}"/>
              </a:ext>
            </a:extLst>
          </p:cNvPr>
          <p:cNvSpPr>
            <a:spLocks noGrp="1"/>
          </p:cNvSpPr>
          <p:nvPr>
            <p:ph type="body" sz="quarter" idx="24" hasCustomPrompt="1"/>
          </p:nvPr>
        </p:nvSpPr>
        <p:spPr>
          <a:xfrm>
            <a:off x="6697739" y="4072855"/>
            <a:ext cx="4922333" cy="2209040"/>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651735A5-9931-4467-9BBD-D622219F38F6}"/>
              </a:ext>
            </a:extLst>
          </p:cNvPr>
          <p:cNvSpPr>
            <a:spLocks noGrp="1"/>
          </p:cNvSpPr>
          <p:nvPr>
            <p:ph type="body" sz="quarter" idx="25" hasCustomPrompt="1"/>
          </p:nvPr>
        </p:nvSpPr>
        <p:spPr>
          <a:xfrm>
            <a:off x="6697739" y="3503600"/>
            <a:ext cx="4922333" cy="639590"/>
          </a:xfrm>
          <a:prstGeom prst="rect">
            <a:avLst/>
          </a:prstGeom>
        </p:spPr>
        <p:txBody>
          <a:bodyPr anchor="b">
            <a:noAutofit/>
          </a:bodyPr>
          <a:lstStyle>
            <a:lvl1pPr marL="0" indent="0" algn="l">
              <a:buNone/>
              <a:defRPr sz="2400" cap="all" spc="150" baseline="0">
                <a:solidFill>
                  <a:schemeClr val="accent4"/>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75467CBB-A84A-4371-9C2F-3BD7181223E8}"/>
              </a:ext>
            </a:extLst>
          </p:cNvPr>
          <p:cNvSpPr>
            <a:spLocks noGrp="1"/>
          </p:cNvSpPr>
          <p:nvPr>
            <p:ph type="body" sz="quarter" idx="26" hasCustomPrompt="1"/>
          </p:nvPr>
        </p:nvSpPr>
        <p:spPr>
          <a:xfrm>
            <a:off x="6697739" y="7046280"/>
            <a:ext cx="4922333" cy="1601472"/>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5E96B9F0-428C-454F-A050-D0D8E8714281}"/>
              </a:ext>
            </a:extLst>
          </p:cNvPr>
          <p:cNvSpPr>
            <a:spLocks noGrp="1"/>
          </p:cNvSpPr>
          <p:nvPr>
            <p:ph type="body" sz="quarter" idx="27" hasCustomPrompt="1"/>
          </p:nvPr>
        </p:nvSpPr>
        <p:spPr>
          <a:xfrm>
            <a:off x="6697739" y="6477025"/>
            <a:ext cx="4922333" cy="639590"/>
          </a:xfrm>
          <a:prstGeom prst="rect">
            <a:avLst/>
          </a:prstGeom>
        </p:spPr>
        <p:txBody>
          <a:bodyPr anchor="b">
            <a:noAutofit/>
          </a:bodyPr>
          <a:lstStyle>
            <a:lvl1pPr marL="0" indent="0" algn="l">
              <a:buNone/>
              <a:defRPr sz="2400" cap="all" spc="150" baseline="0">
                <a:solidFill>
                  <a:schemeClr val="accent4"/>
                </a:solidFill>
                <a:latin typeface="+mj-lt"/>
              </a:defRPr>
            </a:lvl1pPr>
          </a:lstStyle>
          <a:p>
            <a:pPr lvl="0"/>
            <a:r>
              <a:rPr lang="en-US"/>
              <a:t>Click to add subtitle</a:t>
            </a:r>
          </a:p>
        </p:txBody>
      </p:sp>
      <p:sp>
        <p:nvSpPr>
          <p:cNvPr id="17" name="Text Placeholder 10">
            <a:extLst>
              <a:ext uri="{FF2B5EF4-FFF2-40B4-BE49-F238E27FC236}">
                <a16:creationId xmlns:a16="http://schemas.microsoft.com/office/drawing/2014/main" id="{DBEB11F1-0872-4500-8CBB-63D9F6BBAF00}"/>
              </a:ext>
            </a:extLst>
          </p:cNvPr>
          <p:cNvSpPr>
            <a:spLocks noGrp="1"/>
          </p:cNvSpPr>
          <p:nvPr>
            <p:ph type="body" sz="quarter" idx="28" hasCustomPrompt="1"/>
          </p:nvPr>
        </p:nvSpPr>
        <p:spPr>
          <a:xfrm>
            <a:off x="12134749" y="4072855"/>
            <a:ext cx="4922333" cy="2209040"/>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1D1E8BAA-941F-4D25-92A6-7E9A2C3664CD}"/>
              </a:ext>
            </a:extLst>
          </p:cNvPr>
          <p:cNvSpPr>
            <a:spLocks noGrp="1"/>
          </p:cNvSpPr>
          <p:nvPr>
            <p:ph type="body" sz="quarter" idx="29" hasCustomPrompt="1"/>
          </p:nvPr>
        </p:nvSpPr>
        <p:spPr>
          <a:xfrm>
            <a:off x="12134749" y="3503600"/>
            <a:ext cx="4922333" cy="639590"/>
          </a:xfrm>
          <a:prstGeom prst="rect">
            <a:avLst/>
          </a:prstGeom>
        </p:spPr>
        <p:txBody>
          <a:bodyPr anchor="b">
            <a:noAutofit/>
          </a:bodyPr>
          <a:lstStyle>
            <a:lvl1pPr marL="0" indent="0" algn="l">
              <a:buNone/>
              <a:defRPr sz="2400" cap="all" spc="150" baseline="0">
                <a:solidFill>
                  <a:schemeClr val="accent4"/>
                </a:solidFill>
                <a:latin typeface="+mj-lt"/>
              </a:defRPr>
            </a:lvl1pPr>
          </a:lstStyle>
          <a:p>
            <a:pPr lvl="0"/>
            <a:r>
              <a:rPr lang="en-US"/>
              <a:t>Click to add subtitle</a:t>
            </a:r>
          </a:p>
        </p:txBody>
      </p:sp>
      <p:sp>
        <p:nvSpPr>
          <p:cNvPr id="19" name="Rectangle 18">
            <a:extLst>
              <a:ext uri="{FF2B5EF4-FFF2-40B4-BE49-F238E27FC236}">
                <a16:creationId xmlns:a16="http://schemas.microsoft.com/office/drawing/2014/main" id="{9A7E5E59-1A85-4D6C-9DFC-E288DD5ABE98}"/>
              </a:ext>
            </a:extLst>
          </p:cNvPr>
          <p:cNvSpPr/>
          <p:nvPr userDrawn="1"/>
        </p:nvSpPr>
        <p:spPr>
          <a:xfrm rot="5400000">
            <a:off x="14649578" y="-1509801"/>
            <a:ext cx="1458968" cy="58864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700" dirty="0"/>
          </a:p>
        </p:txBody>
      </p:sp>
      <p:sp>
        <p:nvSpPr>
          <p:cNvPr id="2" name="Title 1">
            <a:extLst>
              <a:ext uri="{FF2B5EF4-FFF2-40B4-BE49-F238E27FC236}">
                <a16:creationId xmlns:a16="http://schemas.microsoft.com/office/drawing/2014/main" id="{E67B2D7D-08A6-4C69-B43C-2288E5BBDAEA}"/>
              </a:ext>
            </a:extLst>
          </p:cNvPr>
          <p:cNvSpPr>
            <a:spLocks noGrp="1"/>
          </p:cNvSpPr>
          <p:nvPr>
            <p:ph type="title" hasCustomPrompt="1"/>
          </p:nvPr>
        </p:nvSpPr>
        <p:spPr>
          <a:xfrm>
            <a:off x="4337362" y="987631"/>
            <a:ext cx="9613277" cy="998948"/>
          </a:xfrm>
        </p:spPr>
        <p:txBody>
          <a:bodyPr/>
          <a:lstStyle>
            <a:lvl1pPr algn="r">
              <a:defRPr/>
            </a:lvl1pPr>
          </a:lstStyle>
          <a:p>
            <a:r>
              <a:rPr lang="en-US" dirty="0"/>
              <a:t>Click to add title</a:t>
            </a:r>
          </a:p>
        </p:txBody>
      </p:sp>
    </p:spTree>
    <p:extLst>
      <p:ext uri="{BB962C8B-B14F-4D97-AF65-F5344CB8AC3E}">
        <p14:creationId xmlns:p14="http://schemas.microsoft.com/office/powerpoint/2010/main" val="3669636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usiness Model">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6457E51-8279-450D-ABC2-889F91AD715A}"/>
              </a:ext>
            </a:extLst>
          </p:cNvPr>
          <p:cNvSpPr>
            <a:spLocks noGrp="1"/>
          </p:cNvSpPr>
          <p:nvPr>
            <p:ph type="dt" sz="half" idx="10"/>
          </p:nvPr>
        </p:nvSpPr>
        <p:spPr/>
        <p:txBody>
          <a:bodyPr>
            <a:noAutofit/>
          </a:bodyPr>
          <a:lstStyle/>
          <a:p>
            <a:r>
              <a:rPr lang="en-US"/>
              <a:t>8/03/20XX</a:t>
            </a:r>
            <a:endParaRPr lang="en-US" dirty="0"/>
          </a:p>
        </p:txBody>
      </p:sp>
      <p:sp>
        <p:nvSpPr>
          <p:cNvPr id="6" name="Footer Placeholder 5">
            <a:extLst>
              <a:ext uri="{FF2B5EF4-FFF2-40B4-BE49-F238E27FC236}">
                <a16:creationId xmlns:a16="http://schemas.microsoft.com/office/drawing/2014/main" id="{44F52AC3-8AAB-49A9-8BB4-9A82193F9C05}"/>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C242EBEF-1685-466C-9FC9-D1A2D4A6895D}"/>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8" name="Picture Placeholder 7">
            <a:extLst>
              <a:ext uri="{FF2B5EF4-FFF2-40B4-BE49-F238E27FC236}">
                <a16:creationId xmlns:a16="http://schemas.microsoft.com/office/drawing/2014/main" id="{5360F31D-8187-4BBF-807F-BCD7628363E1}"/>
              </a:ext>
            </a:extLst>
          </p:cNvPr>
          <p:cNvSpPr>
            <a:spLocks noGrp="1"/>
          </p:cNvSpPr>
          <p:nvPr>
            <p:ph type="pic" sz="quarter" idx="13" hasCustomPrompt="1"/>
          </p:nvPr>
        </p:nvSpPr>
        <p:spPr>
          <a:xfrm flipH="1">
            <a:off x="2" y="700088"/>
            <a:ext cx="9144000" cy="8886825"/>
          </a:xfrm>
        </p:spPr>
        <p:txBody>
          <a:bodyPr>
            <a:noAutofit/>
          </a:bodyPr>
          <a:lstStyle>
            <a:lvl1pPr marL="0" indent="0" algn="ctr">
              <a:buNone/>
              <a:defRPr/>
            </a:lvl1pPr>
          </a:lstStyle>
          <a:p>
            <a:r>
              <a:rPr lang="en-US" dirty="0"/>
              <a:t>Click to add photo</a:t>
            </a:r>
          </a:p>
        </p:txBody>
      </p:sp>
      <p:sp>
        <p:nvSpPr>
          <p:cNvPr id="10" name="Text Placeholder 10">
            <a:extLst>
              <a:ext uri="{FF2B5EF4-FFF2-40B4-BE49-F238E27FC236}">
                <a16:creationId xmlns:a16="http://schemas.microsoft.com/office/drawing/2014/main" id="{361D3AC4-50E4-442B-88DA-99E01D461FAD}"/>
              </a:ext>
            </a:extLst>
          </p:cNvPr>
          <p:cNvSpPr>
            <a:spLocks noGrp="1"/>
          </p:cNvSpPr>
          <p:nvPr>
            <p:ph type="body" sz="quarter" idx="16" hasCustomPrompt="1"/>
          </p:nvPr>
        </p:nvSpPr>
        <p:spPr>
          <a:xfrm>
            <a:off x="10401300" y="3274648"/>
            <a:ext cx="6629400" cy="963113"/>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2BA1C8C7-E942-4381-8DFB-35C0D375D503}"/>
              </a:ext>
            </a:extLst>
          </p:cNvPr>
          <p:cNvSpPr>
            <a:spLocks noGrp="1"/>
          </p:cNvSpPr>
          <p:nvPr>
            <p:ph type="body" sz="quarter" idx="17" hasCustomPrompt="1"/>
          </p:nvPr>
        </p:nvSpPr>
        <p:spPr>
          <a:xfrm>
            <a:off x="10401300" y="2448342"/>
            <a:ext cx="6629400" cy="826305"/>
          </a:xfrm>
          <a:prstGeom prst="rect">
            <a:avLst/>
          </a:prstGeom>
        </p:spPr>
        <p:txBody>
          <a:bodyPr anchor="b">
            <a:noAutofit/>
          </a:bodyPr>
          <a:lstStyle>
            <a:lvl1pPr marL="0" indent="0" algn="l">
              <a:buNone/>
              <a:defRPr sz="2400" cap="all" spc="150" baseline="0">
                <a:solidFill>
                  <a:schemeClr val="accent1"/>
                </a:solidFill>
                <a:latin typeface="+mj-lt"/>
              </a:defRPr>
            </a:lvl1pPr>
          </a:lstStyle>
          <a:p>
            <a:pPr lvl="0"/>
            <a:r>
              <a:rPr lang="en-US"/>
              <a:t>Click to add subtitle</a:t>
            </a:r>
          </a:p>
        </p:txBody>
      </p:sp>
      <p:sp>
        <p:nvSpPr>
          <p:cNvPr id="18" name="Text Placeholder 10">
            <a:extLst>
              <a:ext uri="{FF2B5EF4-FFF2-40B4-BE49-F238E27FC236}">
                <a16:creationId xmlns:a16="http://schemas.microsoft.com/office/drawing/2014/main" id="{619FB69F-436E-4680-805E-129656D1FC8B}"/>
              </a:ext>
            </a:extLst>
          </p:cNvPr>
          <p:cNvSpPr>
            <a:spLocks noGrp="1"/>
          </p:cNvSpPr>
          <p:nvPr>
            <p:ph type="body" sz="quarter" idx="18" hasCustomPrompt="1"/>
          </p:nvPr>
        </p:nvSpPr>
        <p:spPr>
          <a:xfrm>
            <a:off x="10401300" y="5599192"/>
            <a:ext cx="6629400" cy="963113"/>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19" name="Text Placeholder 10">
            <a:extLst>
              <a:ext uri="{FF2B5EF4-FFF2-40B4-BE49-F238E27FC236}">
                <a16:creationId xmlns:a16="http://schemas.microsoft.com/office/drawing/2014/main" id="{9EEFB823-5D40-4C5F-8E5C-8DA54596313D}"/>
              </a:ext>
            </a:extLst>
          </p:cNvPr>
          <p:cNvSpPr>
            <a:spLocks noGrp="1"/>
          </p:cNvSpPr>
          <p:nvPr>
            <p:ph type="body" sz="quarter" idx="19" hasCustomPrompt="1"/>
          </p:nvPr>
        </p:nvSpPr>
        <p:spPr>
          <a:xfrm>
            <a:off x="10401300" y="4772886"/>
            <a:ext cx="6629400" cy="826305"/>
          </a:xfrm>
          <a:prstGeom prst="rect">
            <a:avLst/>
          </a:prstGeom>
        </p:spPr>
        <p:txBody>
          <a:bodyPr anchor="b">
            <a:noAutofit/>
          </a:bodyPr>
          <a:lstStyle>
            <a:lvl1pPr marL="0" indent="0" algn="l">
              <a:buNone/>
              <a:defRPr sz="2400" cap="all" spc="150" baseline="0">
                <a:solidFill>
                  <a:schemeClr val="accent1"/>
                </a:solidFill>
                <a:latin typeface="+mj-lt"/>
              </a:defRPr>
            </a:lvl1pPr>
          </a:lstStyle>
          <a:p>
            <a:pPr lvl="0"/>
            <a:r>
              <a:rPr lang="en-US"/>
              <a:t>Click to add subtitle</a:t>
            </a:r>
          </a:p>
        </p:txBody>
      </p:sp>
      <p:sp>
        <p:nvSpPr>
          <p:cNvPr id="20" name="Text Placeholder 10">
            <a:extLst>
              <a:ext uri="{FF2B5EF4-FFF2-40B4-BE49-F238E27FC236}">
                <a16:creationId xmlns:a16="http://schemas.microsoft.com/office/drawing/2014/main" id="{97A70DDF-2854-466D-AE9A-7AA7BF32982D}"/>
              </a:ext>
            </a:extLst>
          </p:cNvPr>
          <p:cNvSpPr>
            <a:spLocks noGrp="1"/>
          </p:cNvSpPr>
          <p:nvPr>
            <p:ph type="body" sz="quarter" idx="20" hasCustomPrompt="1"/>
          </p:nvPr>
        </p:nvSpPr>
        <p:spPr>
          <a:xfrm>
            <a:off x="10401300" y="7961828"/>
            <a:ext cx="6629400" cy="963113"/>
          </a:xfrm>
          <a:prstGeom prst="rect">
            <a:avLst/>
          </a:prstGeom>
        </p:spPr>
        <p:txBody>
          <a:bodyPr anchor="t">
            <a:noAutofit/>
          </a:bodyPr>
          <a:lstStyle>
            <a:lvl1pPr marL="0" indent="0" algn="l">
              <a:lnSpc>
                <a:spcPct val="125000"/>
              </a:lnSpc>
              <a:spcBef>
                <a:spcPts val="0"/>
              </a:spcBef>
              <a:buNone/>
              <a:defRPr sz="2100" cap="none" spc="150" baseline="0">
                <a:solidFill>
                  <a:schemeClr val="tx1"/>
                </a:solidFill>
                <a:latin typeface="+mn-lt"/>
              </a:defRPr>
            </a:lvl1pPr>
          </a:lstStyle>
          <a:p>
            <a:pPr lvl="0"/>
            <a:r>
              <a:rPr lang="en-US"/>
              <a:t>Click to add text</a:t>
            </a:r>
          </a:p>
        </p:txBody>
      </p:sp>
      <p:sp>
        <p:nvSpPr>
          <p:cNvPr id="21" name="Text Placeholder 10">
            <a:extLst>
              <a:ext uri="{FF2B5EF4-FFF2-40B4-BE49-F238E27FC236}">
                <a16:creationId xmlns:a16="http://schemas.microsoft.com/office/drawing/2014/main" id="{C6C41E82-34D6-471D-81E8-FCA62C7F22F7}"/>
              </a:ext>
            </a:extLst>
          </p:cNvPr>
          <p:cNvSpPr>
            <a:spLocks noGrp="1"/>
          </p:cNvSpPr>
          <p:nvPr>
            <p:ph type="body" sz="quarter" idx="21" hasCustomPrompt="1"/>
          </p:nvPr>
        </p:nvSpPr>
        <p:spPr>
          <a:xfrm>
            <a:off x="10401300" y="7135523"/>
            <a:ext cx="6629400" cy="826305"/>
          </a:xfrm>
          <a:prstGeom prst="rect">
            <a:avLst/>
          </a:prstGeom>
        </p:spPr>
        <p:txBody>
          <a:bodyPr anchor="b">
            <a:noAutofit/>
          </a:bodyPr>
          <a:lstStyle>
            <a:lvl1pPr marL="0" indent="0" algn="l">
              <a:buNone/>
              <a:defRPr sz="2400" cap="all" spc="150" baseline="0">
                <a:solidFill>
                  <a:schemeClr val="accent1"/>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7A0E1AE8-90BE-4DE3-93E9-B997D48FE671}"/>
              </a:ext>
            </a:extLst>
          </p:cNvPr>
          <p:cNvSpPr>
            <a:spLocks noGrp="1"/>
          </p:cNvSpPr>
          <p:nvPr>
            <p:ph type="title" hasCustomPrompt="1"/>
          </p:nvPr>
        </p:nvSpPr>
        <p:spPr>
          <a:xfrm>
            <a:off x="6769743" y="1003387"/>
            <a:ext cx="9062862" cy="963113"/>
          </a:xfrm>
        </p:spPr>
        <p:txBody>
          <a:bodyPr/>
          <a:lstStyle>
            <a:lvl1pPr>
              <a:defRPr/>
            </a:lvl1pPr>
          </a:lstStyle>
          <a:p>
            <a:r>
              <a:rPr lang="en-US" dirty="0"/>
              <a:t>Click to add title</a:t>
            </a:r>
          </a:p>
        </p:txBody>
      </p:sp>
    </p:spTree>
    <p:extLst>
      <p:ext uri="{BB962C8B-B14F-4D97-AF65-F5344CB8AC3E}">
        <p14:creationId xmlns:p14="http://schemas.microsoft.com/office/powerpoint/2010/main" val="1529986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www.wikidoc.org/index.php/Emergency_psychiatry" TargetMode="External"/><Relationship Id="rId2" Type="http://schemas.openxmlformats.org/officeDocument/2006/relationships/image" Target="../media/image23.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10.svg"/><Relationship Id="rId3" Type="http://schemas.openxmlformats.org/officeDocument/2006/relationships/image" Target="../media/image38.svg"/><Relationship Id="rId7" Type="http://schemas.openxmlformats.org/officeDocument/2006/relationships/image" Target="../media/image4.svg"/><Relationship Id="rId12" Type="http://schemas.openxmlformats.org/officeDocument/2006/relationships/image" Target="../media/image9.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sv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40.sv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65000"/>
            <a:alpha val="41000"/>
          </a:schemeClr>
        </a:solidFill>
        <a:effectLst/>
      </p:bgPr>
    </p:bg>
    <p:spTree>
      <p:nvGrpSpPr>
        <p:cNvPr id="1" name=""/>
        <p:cNvGrpSpPr/>
        <p:nvPr/>
      </p:nvGrpSpPr>
      <p:grpSpPr>
        <a:xfrm>
          <a:off x="0" y="0"/>
          <a:ext cx="0" cy="0"/>
          <a:chOff x="0" y="0"/>
          <a:chExt cx="0" cy="0"/>
        </a:xfrm>
      </p:grpSpPr>
      <p:sp>
        <p:nvSpPr>
          <p:cNvPr id="4" name="Freeform 4"/>
          <p:cNvSpPr/>
          <p:nvPr/>
        </p:nvSpPr>
        <p:spPr>
          <a:xfrm>
            <a:off x="5216366" y="5042801"/>
            <a:ext cx="4127261" cy="5717869"/>
          </a:xfrm>
          <a:custGeom>
            <a:avLst/>
            <a:gdLst/>
            <a:ahLst/>
            <a:cxnLst/>
            <a:rect l="l" t="t" r="r" b="b"/>
            <a:pathLst>
              <a:path w="4127261" h="5717869">
                <a:moveTo>
                  <a:pt x="0" y="0"/>
                </a:moveTo>
                <a:lnTo>
                  <a:pt x="4127262" y="0"/>
                </a:lnTo>
                <a:lnTo>
                  <a:pt x="4127262" y="5717869"/>
                </a:lnTo>
                <a:lnTo>
                  <a:pt x="0" y="5717869"/>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5" name="Freeform 5"/>
          <p:cNvSpPr/>
          <p:nvPr/>
        </p:nvSpPr>
        <p:spPr>
          <a:xfrm>
            <a:off x="9144000" y="4573289"/>
            <a:ext cx="4364916" cy="6187381"/>
          </a:xfrm>
          <a:custGeom>
            <a:avLst/>
            <a:gdLst/>
            <a:ahLst/>
            <a:cxnLst/>
            <a:rect l="l" t="t" r="r" b="b"/>
            <a:pathLst>
              <a:path w="4364916" h="6187381">
                <a:moveTo>
                  <a:pt x="0" y="0"/>
                </a:moveTo>
                <a:lnTo>
                  <a:pt x="4364916" y="0"/>
                </a:lnTo>
                <a:lnTo>
                  <a:pt x="4364916" y="6187381"/>
                </a:lnTo>
                <a:lnTo>
                  <a:pt x="0" y="6187381"/>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sp>
      <p:sp>
        <p:nvSpPr>
          <p:cNvPr id="6" name="Freeform 6"/>
          <p:cNvSpPr/>
          <p:nvPr/>
        </p:nvSpPr>
        <p:spPr>
          <a:xfrm>
            <a:off x="-436655" y="1657320"/>
            <a:ext cx="3778768" cy="3807323"/>
          </a:xfrm>
          <a:custGeom>
            <a:avLst/>
            <a:gdLst/>
            <a:ahLst/>
            <a:cxnLst/>
            <a:rect l="l" t="t" r="r" b="b"/>
            <a:pathLst>
              <a:path w="3778768" h="3807323">
                <a:moveTo>
                  <a:pt x="0" y="0"/>
                </a:moveTo>
                <a:lnTo>
                  <a:pt x="3778768" y="0"/>
                </a:lnTo>
                <a:lnTo>
                  <a:pt x="3778768" y="3807323"/>
                </a:lnTo>
                <a:lnTo>
                  <a:pt x="0" y="38073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538390" y="606533"/>
            <a:ext cx="1828678" cy="1399770"/>
          </a:xfrm>
          <a:custGeom>
            <a:avLst/>
            <a:gdLst/>
            <a:ahLst/>
            <a:cxnLst/>
            <a:rect l="l" t="t" r="r" b="b"/>
            <a:pathLst>
              <a:path w="1828678" h="1399770">
                <a:moveTo>
                  <a:pt x="0" y="0"/>
                </a:moveTo>
                <a:lnTo>
                  <a:pt x="1828678" y="0"/>
                </a:lnTo>
                <a:lnTo>
                  <a:pt x="1828678" y="1399770"/>
                </a:lnTo>
                <a:lnTo>
                  <a:pt x="0" y="13997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8" name="Group 8"/>
          <p:cNvGrpSpPr/>
          <p:nvPr/>
        </p:nvGrpSpPr>
        <p:grpSpPr>
          <a:xfrm>
            <a:off x="4325180" y="1525567"/>
            <a:ext cx="627698" cy="634365"/>
            <a:chOff x="0" y="0"/>
            <a:chExt cx="836930" cy="845820"/>
          </a:xfrm>
        </p:grpSpPr>
        <p:sp>
          <p:nvSpPr>
            <p:cNvPr id="9" name="Freeform 9"/>
            <p:cNvSpPr/>
            <p:nvPr/>
          </p:nvSpPr>
          <p:spPr>
            <a:xfrm>
              <a:off x="45720" y="48260"/>
              <a:ext cx="746760" cy="748030"/>
            </a:xfrm>
            <a:custGeom>
              <a:avLst/>
              <a:gdLst/>
              <a:ahLst/>
              <a:cxnLst/>
              <a:rect l="l" t="t" r="r" b="b"/>
              <a:pathLst>
                <a:path w="746760" h="748030">
                  <a:moveTo>
                    <a:pt x="541020" y="712470"/>
                  </a:moveTo>
                  <a:cubicBezTo>
                    <a:pt x="17780" y="205740"/>
                    <a:pt x="15240" y="201930"/>
                    <a:pt x="10160" y="186690"/>
                  </a:cubicBezTo>
                  <a:cubicBezTo>
                    <a:pt x="3810" y="163830"/>
                    <a:pt x="0" y="124460"/>
                    <a:pt x="8890" y="99060"/>
                  </a:cubicBezTo>
                  <a:cubicBezTo>
                    <a:pt x="16510" y="72390"/>
                    <a:pt x="38100" y="44450"/>
                    <a:pt x="59690" y="27940"/>
                  </a:cubicBezTo>
                  <a:cubicBezTo>
                    <a:pt x="82550" y="11430"/>
                    <a:pt x="116840" y="1270"/>
                    <a:pt x="143510" y="2540"/>
                  </a:cubicBezTo>
                  <a:cubicBezTo>
                    <a:pt x="171450" y="3810"/>
                    <a:pt x="207010" y="20320"/>
                    <a:pt x="226060" y="33020"/>
                  </a:cubicBezTo>
                  <a:cubicBezTo>
                    <a:pt x="240030" y="43180"/>
                    <a:pt x="247650" y="52070"/>
                    <a:pt x="255270" y="66040"/>
                  </a:cubicBezTo>
                  <a:cubicBezTo>
                    <a:pt x="266700" y="87630"/>
                    <a:pt x="275590" y="128270"/>
                    <a:pt x="275590" y="151130"/>
                  </a:cubicBezTo>
                  <a:cubicBezTo>
                    <a:pt x="275590" y="168910"/>
                    <a:pt x="273050" y="180340"/>
                    <a:pt x="265430" y="194310"/>
                  </a:cubicBezTo>
                  <a:cubicBezTo>
                    <a:pt x="254000" y="215900"/>
                    <a:pt x="229870" y="246380"/>
                    <a:pt x="205740" y="259080"/>
                  </a:cubicBezTo>
                  <a:cubicBezTo>
                    <a:pt x="181610" y="273050"/>
                    <a:pt x="143510" y="276860"/>
                    <a:pt x="120650" y="275590"/>
                  </a:cubicBezTo>
                  <a:cubicBezTo>
                    <a:pt x="102870" y="274320"/>
                    <a:pt x="91440" y="270510"/>
                    <a:pt x="77470" y="261620"/>
                  </a:cubicBezTo>
                  <a:cubicBezTo>
                    <a:pt x="57150" y="250190"/>
                    <a:pt x="27940" y="224790"/>
                    <a:pt x="16510" y="199390"/>
                  </a:cubicBezTo>
                  <a:cubicBezTo>
                    <a:pt x="3810" y="175260"/>
                    <a:pt x="0" y="139700"/>
                    <a:pt x="5080" y="113030"/>
                  </a:cubicBezTo>
                  <a:cubicBezTo>
                    <a:pt x="10160" y="86360"/>
                    <a:pt x="27940" y="55880"/>
                    <a:pt x="48260" y="36830"/>
                  </a:cubicBezTo>
                  <a:cubicBezTo>
                    <a:pt x="69850" y="19050"/>
                    <a:pt x="105410" y="6350"/>
                    <a:pt x="129540" y="2540"/>
                  </a:cubicBezTo>
                  <a:cubicBezTo>
                    <a:pt x="146050" y="0"/>
                    <a:pt x="157480" y="1270"/>
                    <a:pt x="173990" y="6350"/>
                  </a:cubicBezTo>
                  <a:cubicBezTo>
                    <a:pt x="195580" y="13970"/>
                    <a:pt x="214630" y="27940"/>
                    <a:pt x="246380" y="54610"/>
                  </a:cubicBezTo>
                  <a:cubicBezTo>
                    <a:pt x="337820" y="129540"/>
                    <a:pt x="645160" y="457200"/>
                    <a:pt x="708660" y="537210"/>
                  </a:cubicBezTo>
                  <a:cubicBezTo>
                    <a:pt x="726440" y="560070"/>
                    <a:pt x="734060" y="566420"/>
                    <a:pt x="739140" y="585470"/>
                  </a:cubicBezTo>
                  <a:cubicBezTo>
                    <a:pt x="745490" y="609600"/>
                    <a:pt x="746760" y="646430"/>
                    <a:pt x="736600" y="671830"/>
                  </a:cubicBezTo>
                  <a:cubicBezTo>
                    <a:pt x="726440" y="695960"/>
                    <a:pt x="698500" y="722630"/>
                    <a:pt x="676910" y="734060"/>
                  </a:cubicBezTo>
                  <a:cubicBezTo>
                    <a:pt x="659130" y="744220"/>
                    <a:pt x="641350" y="748030"/>
                    <a:pt x="621030" y="746760"/>
                  </a:cubicBezTo>
                  <a:cubicBezTo>
                    <a:pt x="595630" y="744220"/>
                    <a:pt x="541020" y="712470"/>
                    <a:pt x="541020" y="712470"/>
                  </a:cubicBezTo>
                </a:path>
              </a:pathLst>
            </a:custGeom>
            <a:solidFill>
              <a:srgbClr val="88A3CE"/>
            </a:solidFill>
            <a:ln cap="sq">
              <a:noFill/>
              <a:prstDash val="solid"/>
              <a:miter/>
            </a:ln>
          </p:spPr>
        </p:sp>
      </p:grpSp>
      <p:grpSp>
        <p:nvGrpSpPr>
          <p:cNvPr id="10" name="Group 10"/>
          <p:cNvGrpSpPr/>
          <p:nvPr/>
        </p:nvGrpSpPr>
        <p:grpSpPr>
          <a:xfrm>
            <a:off x="4932875" y="1436032"/>
            <a:ext cx="296228" cy="615315"/>
            <a:chOff x="0" y="0"/>
            <a:chExt cx="394970" cy="820420"/>
          </a:xfrm>
        </p:grpSpPr>
        <p:sp>
          <p:nvSpPr>
            <p:cNvPr id="11" name="Freeform 11"/>
            <p:cNvSpPr/>
            <p:nvPr/>
          </p:nvSpPr>
          <p:spPr>
            <a:xfrm>
              <a:off x="48260" y="49530"/>
              <a:ext cx="311150" cy="722630"/>
            </a:xfrm>
            <a:custGeom>
              <a:avLst/>
              <a:gdLst/>
              <a:ahLst/>
              <a:cxnLst/>
              <a:rect l="l" t="t" r="r" b="b"/>
              <a:pathLst>
                <a:path w="311150" h="722630">
                  <a:moveTo>
                    <a:pt x="66040" y="626110"/>
                  </a:moveTo>
                  <a:cubicBezTo>
                    <a:pt x="2540" y="208280"/>
                    <a:pt x="11430" y="87630"/>
                    <a:pt x="33020" y="48260"/>
                  </a:cubicBezTo>
                  <a:cubicBezTo>
                    <a:pt x="40640" y="31750"/>
                    <a:pt x="49530" y="27940"/>
                    <a:pt x="63500" y="20320"/>
                  </a:cubicBezTo>
                  <a:cubicBezTo>
                    <a:pt x="83820" y="10160"/>
                    <a:pt x="118110" y="0"/>
                    <a:pt x="143510" y="2540"/>
                  </a:cubicBezTo>
                  <a:cubicBezTo>
                    <a:pt x="168910" y="5080"/>
                    <a:pt x="199390" y="19050"/>
                    <a:pt x="218440" y="36830"/>
                  </a:cubicBezTo>
                  <a:cubicBezTo>
                    <a:pt x="237490" y="53340"/>
                    <a:pt x="252730" y="82550"/>
                    <a:pt x="257810" y="107950"/>
                  </a:cubicBezTo>
                  <a:cubicBezTo>
                    <a:pt x="261620" y="133350"/>
                    <a:pt x="256540" y="166370"/>
                    <a:pt x="245110" y="189230"/>
                  </a:cubicBezTo>
                  <a:cubicBezTo>
                    <a:pt x="232410" y="212090"/>
                    <a:pt x="204470" y="234950"/>
                    <a:pt x="185420" y="246380"/>
                  </a:cubicBezTo>
                  <a:cubicBezTo>
                    <a:pt x="172720" y="254000"/>
                    <a:pt x="161290" y="256540"/>
                    <a:pt x="146050" y="257810"/>
                  </a:cubicBezTo>
                  <a:cubicBezTo>
                    <a:pt x="124460" y="257810"/>
                    <a:pt x="85090" y="250190"/>
                    <a:pt x="66040" y="240030"/>
                  </a:cubicBezTo>
                  <a:cubicBezTo>
                    <a:pt x="52070" y="233680"/>
                    <a:pt x="43180" y="226060"/>
                    <a:pt x="34290" y="214630"/>
                  </a:cubicBezTo>
                  <a:cubicBezTo>
                    <a:pt x="20320" y="196850"/>
                    <a:pt x="6350" y="160020"/>
                    <a:pt x="2540" y="138430"/>
                  </a:cubicBezTo>
                  <a:cubicBezTo>
                    <a:pt x="0" y="123190"/>
                    <a:pt x="1270" y="111760"/>
                    <a:pt x="7620" y="96520"/>
                  </a:cubicBezTo>
                  <a:cubicBezTo>
                    <a:pt x="13970" y="76200"/>
                    <a:pt x="31750" y="44450"/>
                    <a:pt x="52070" y="29210"/>
                  </a:cubicBezTo>
                  <a:cubicBezTo>
                    <a:pt x="72390" y="12700"/>
                    <a:pt x="107950" y="3810"/>
                    <a:pt x="129540" y="1270"/>
                  </a:cubicBezTo>
                  <a:cubicBezTo>
                    <a:pt x="146050" y="0"/>
                    <a:pt x="156210" y="2540"/>
                    <a:pt x="171450" y="7620"/>
                  </a:cubicBezTo>
                  <a:cubicBezTo>
                    <a:pt x="191770" y="16510"/>
                    <a:pt x="222250" y="35560"/>
                    <a:pt x="236220" y="57150"/>
                  </a:cubicBezTo>
                  <a:cubicBezTo>
                    <a:pt x="251460" y="78740"/>
                    <a:pt x="260350" y="110490"/>
                    <a:pt x="259080" y="135890"/>
                  </a:cubicBezTo>
                  <a:cubicBezTo>
                    <a:pt x="257810" y="161290"/>
                    <a:pt x="227330" y="210820"/>
                    <a:pt x="229870" y="212090"/>
                  </a:cubicBezTo>
                  <a:cubicBezTo>
                    <a:pt x="231140" y="213360"/>
                    <a:pt x="243840" y="182880"/>
                    <a:pt x="250190" y="185420"/>
                  </a:cubicBezTo>
                  <a:cubicBezTo>
                    <a:pt x="273050" y="191770"/>
                    <a:pt x="311150" y="562610"/>
                    <a:pt x="294640" y="636270"/>
                  </a:cubicBezTo>
                  <a:cubicBezTo>
                    <a:pt x="289560" y="661670"/>
                    <a:pt x="280670" y="670560"/>
                    <a:pt x="266700" y="684530"/>
                  </a:cubicBezTo>
                  <a:cubicBezTo>
                    <a:pt x="248920" y="701040"/>
                    <a:pt x="217170" y="717550"/>
                    <a:pt x="190500" y="720090"/>
                  </a:cubicBezTo>
                  <a:cubicBezTo>
                    <a:pt x="165100" y="722630"/>
                    <a:pt x="132080" y="712470"/>
                    <a:pt x="110490" y="695960"/>
                  </a:cubicBezTo>
                  <a:cubicBezTo>
                    <a:pt x="90170" y="680720"/>
                    <a:pt x="66040" y="626110"/>
                    <a:pt x="66040" y="626110"/>
                  </a:cubicBezTo>
                </a:path>
              </a:pathLst>
            </a:custGeom>
            <a:solidFill>
              <a:srgbClr val="88A3CE"/>
            </a:solidFill>
            <a:ln cap="sq">
              <a:noFill/>
              <a:prstDash val="solid"/>
              <a:miter/>
            </a:ln>
          </p:spPr>
        </p:sp>
      </p:grpSp>
      <p:grpSp>
        <p:nvGrpSpPr>
          <p:cNvPr id="12" name="Group 12"/>
          <p:cNvGrpSpPr/>
          <p:nvPr/>
        </p:nvGrpSpPr>
        <p:grpSpPr>
          <a:xfrm>
            <a:off x="4334705" y="2180887"/>
            <a:ext cx="592455" cy="303847"/>
            <a:chOff x="0" y="0"/>
            <a:chExt cx="789940" cy="405130"/>
          </a:xfrm>
        </p:grpSpPr>
        <p:sp>
          <p:nvSpPr>
            <p:cNvPr id="13" name="Freeform 13"/>
            <p:cNvSpPr/>
            <p:nvPr/>
          </p:nvSpPr>
          <p:spPr>
            <a:xfrm>
              <a:off x="48260" y="48260"/>
              <a:ext cx="692150" cy="309880"/>
            </a:xfrm>
            <a:custGeom>
              <a:avLst/>
              <a:gdLst/>
              <a:ahLst/>
              <a:cxnLst/>
              <a:rect l="l" t="t" r="r" b="b"/>
              <a:pathLst>
                <a:path w="692150" h="309880">
                  <a:moveTo>
                    <a:pt x="553720" y="278130"/>
                  </a:moveTo>
                  <a:cubicBezTo>
                    <a:pt x="351790" y="256540"/>
                    <a:pt x="271780" y="250190"/>
                    <a:pt x="234950" y="262890"/>
                  </a:cubicBezTo>
                  <a:cubicBezTo>
                    <a:pt x="214630" y="270510"/>
                    <a:pt x="210820" y="288290"/>
                    <a:pt x="191770" y="294640"/>
                  </a:cubicBezTo>
                  <a:cubicBezTo>
                    <a:pt x="170180" y="303530"/>
                    <a:pt x="133350" y="309880"/>
                    <a:pt x="106680" y="303530"/>
                  </a:cubicBezTo>
                  <a:cubicBezTo>
                    <a:pt x="80010" y="297180"/>
                    <a:pt x="49530" y="275590"/>
                    <a:pt x="33020" y="259080"/>
                  </a:cubicBezTo>
                  <a:cubicBezTo>
                    <a:pt x="21590" y="246380"/>
                    <a:pt x="16510" y="234950"/>
                    <a:pt x="11430" y="220980"/>
                  </a:cubicBezTo>
                  <a:cubicBezTo>
                    <a:pt x="6350" y="207010"/>
                    <a:pt x="1270" y="194310"/>
                    <a:pt x="2540" y="177800"/>
                  </a:cubicBezTo>
                  <a:cubicBezTo>
                    <a:pt x="3810" y="154940"/>
                    <a:pt x="10160" y="118110"/>
                    <a:pt x="26670" y="95250"/>
                  </a:cubicBezTo>
                  <a:cubicBezTo>
                    <a:pt x="41910" y="73660"/>
                    <a:pt x="69850" y="52070"/>
                    <a:pt x="95250" y="44450"/>
                  </a:cubicBezTo>
                  <a:cubicBezTo>
                    <a:pt x="120650" y="35560"/>
                    <a:pt x="158750" y="39370"/>
                    <a:pt x="181610" y="45720"/>
                  </a:cubicBezTo>
                  <a:cubicBezTo>
                    <a:pt x="196850" y="49530"/>
                    <a:pt x="207010" y="54610"/>
                    <a:pt x="219710" y="66040"/>
                  </a:cubicBezTo>
                  <a:cubicBezTo>
                    <a:pt x="236220" y="81280"/>
                    <a:pt x="260350" y="111760"/>
                    <a:pt x="266700" y="137160"/>
                  </a:cubicBezTo>
                  <a:cubicBezTo>
                    <a:pt x="274320" y="163830"/>
                    <a:pt x="271780" y="198120"/>
                    <a:pt x="261620" y="223520"/>
                  </a:cubicBezTo>
                  <a:cubicBezTo>
                    <a:pt x="251460" y="248920"/>
                    <a:pt x="228600" y="274320"/>
                    <a:pt x="205740" y="288290"/>
                  </a:cubicBezTo>
                  <a:cubicBezTo>
                    <a:pt x="181610" y="302260"/>
                    <a:pt x="148590" y="309880"/>
                    <a:pt x="120650" y="306070"/>
                  </a:cubicBezTo>
                  <a:cubicBezTo>
                    <a:pt x="93980" y="303530"/>
                    <a:pt x="63500" y="288290"/>
                    <a:pt x="43180" y="269240"/>
                  </a:cubicBezTo>
                  <a:cubicBezTo>
                    <a:pt x="24130" y="250190"/>
                    <a:pt x="8890" y="215900"/>
                    <a:pt x="3810" y="193040"/>
                  </a:cubicBezTo>
                  <a:cubicBezTo>
                    <a:pt x="0" y="176530"/>
                    <a:pt x="0" y="165100"/>
                    <a:pt x="3810" y="148590"/>
                  </a:cubicBezTo>
                  <a:cubicBezTo>
                    <a:pt x="10160" y="127000"/>
                    <a:pt x="29210" y="93980"/>
                    <a:pt x="45720" y="73660"/>
                  </a:cubicBezTo>
                  <a:cubicBezTo>
                    <a:pt x="59690" y="55880"/>
                    <a:pt x="71120" y="43180"/>
                    <a:pt x="93980" y="31750"/>
                  </a:cubicBezTo>
                  <a:cubicBezTo>
                    <a:pt x="132080" y="13970"/>
                    <a:pt x="207010" y="6350"/>
                    <a:pt x="264160" y="2540"/>
                  </a:cubicBezTo>
                  <a:cubicBezTo>
                    <a:pt x="322580" y="0"/>
                    <a:pt x="383540" y="7620"/>
                    <a:pt x="441960" y="15240"/>
                  </a:cubicBezTo>
                  <a:cubicBezTo>
                    <a:pt x="501650" y="22860"/>
                    <a:pt x="575310" y="27940"/>
                    <a:pt x="617220" y="49530"/>
                  </a:cubicBezTo>
                  <a:cubicBezTo>
                    <a:pt x="645160" y="63500"/>
                    <a:pt x="666750" y="86360"/>
                    <a:pt x="678180" y="106680"/>
                  </a:cubicBezTo>
                  <a:cubicBezTo>
                    <a:pt x="688340" y="124460"/>
                    <a:pt x="692150" y="143510"/>
                    <a:pt x="690880" y="162560"/>
                  </a:cubicBezTo>
                  <a:cubicBezTo>
                    <a:pt x="688340" y="186690"/>
                    <a:pt x="674370" y="222250"/>
                    <a:pt x="657860" y="241300"/>
                  </a:cubicBezTo>
                  <a:cubicBezTo>
                    <a:pt x="645160" y="256540"/>
                    <a:pt x="627380" y="266700"/>
                    <a:pt x="610870" y="273050"/>
                  </a:cubicBezTo>
                  <a:cubicBezTo>
                    <a:pt x="593090" y="278130"/>
                    <a:pt x="553720" y="278130"/>
                    <a:pt x="553720" y="278130"/>
                  </a:cubicBezTo>
                </a:path>
              </a:pathLst>
            </a:custGeom>
            <a:solidFill>
              <a:srgbClr val="88A3CE"/>
            </a:solidFill>
            <a:ln cap="sq">
              <a:noFill/>
              <a:prstDash val="solid"/>
              <a:miter/>
            </a:ln>
          </p:spPr>
        </p:sp>
      </p:grpSp>
      <p:grpSp>
        <p:nvGrpSpPr>
          <p:cNvPr id="14" name="Group 14"/>
          <p:cNvGrpSpPr/>
          <p:nvPr/>
        </p:nvGrpSpPr>
        <p:grpSpPr>
          <a:xfrm rot="-5466542">
            <a:off x="13216508" y="2021960"/>
            <a:ext cx="552469" cy="522858"/>
            <a:chOff x="0" y="0"/>
            <a:chExt cx="900430" cy="852170"/>
          </a:xfrm>
        </p:grpSpPr>
        <p:sp>
          <p:nvSpPr>
            <p:cNvPr id="15" name="Freeform 15"/>
            <p:cNvSpPr/>
            <p:nvPr/>
          </p:nvSpPr>
          <p:spPr>
            <a:xfrm>
              <a:off x="45720" y="48260"/>
              <a:ext cx="807720" cy="755650"/>
            </a:xfrm>
            <a:custGeom>
              <a:avLst/>
              <a:gdLst/>
              <a:ahLst/>
              <a:cxnLst/>
              <a:rect l="l" t="t" r="r" b="b"/>
              <a:pathLst>
                <a:path w="807720" h="755650">
                  <a:moveTo>
                    <a:pt x="208280" y="41910"/>
                  </a:moveTo>
                  <a:cubicBezTo>
                    <a:pt x="571500" y="396240"/>
                    <a:pt x="746760" y="495300"/>
                    <a:pt x="786130" y="544830"/>
                  </a:cubicBezTo>
                  <a:cubicBezTo>
                    <a:pt x="798830" y="561340"/>
                    <a:pt x="800100" y="568960"/>
                    <a:pt x="802640" y="585470"/>
                  </a:cubicBezTo>
                  <a:cubicBezTo>
                    <a:pt x="806450" y="608330"/>
                    <a:pt x="805180" y="646430"/>
                    <a:pt x="795020" y="671830"/>
                  </a:cubicBezTo>
                  <a:cubicBezTo>
                    <a:pt x="783590" y="697230"/>
                    <a:pt x="759460" y="722630"/>
                    <a:pt x="735330" y="735330"/>
                  </a:cubicBezTo>
                  <a:cubicBezTo>
                    <a:pt x="711200" y="749300"/>
                    <a:pt x="676910" y="755650"/>
                    <a:pt x="650240" y="750570"/>
                  </a:cubicBezTo>
                  <a:cubicBezTo>
                    <a:pt x="622300" y="746760"/>
                    <a:pt x="591820" y="731520"/>
                    <a:pt x="572770" y="711200"/>
                  </a:cubicBezTo>
                  <a:cubicBezTo>
                    <a:pt x="553720" y="692150"/>
                    <a:pt x="539750" y="655320"/>
                    <a:pt x="534670" y="632460"/>
                  </a:cubicBezTo>
                  <a:cubicBezTo>
                    <a:pt x="532130" y="615950"/>
                    <a:pt x="533400" y="603250"/>
                    <a:pt x="537210" y="589280"/>
                  </a:cubicBezTo>
                  <a:cubicBezTo>
                    <a:pt x="539750" y="574040"/>
                    <a:pt x="543560" y="561340"/>
                    <a:pt x="552450" y="547370"/>
                  </a:cubicBezTo>
                  <a:cubicBezTo>
                    <a:pt x="566420" y="528320"/>
                    <a:pt x="593090" y="501650"/>
                    <a:pt x="618490" y="490220"/>
                  </a:cubicBezTo>
                  <a:cubicBezTo>
                    <a:pt x="643890" y="480060"/>
                    <a:pt x="681990" y="480060"/>
                    <a:pt x="704850" y="485140"/>
                  </a:cubicBezTo>
                  <a:cubicBezTo>
                    <a:pt x="721360" y="487680"/>
                    <a:pt x="731520" y="492760"/>
                    <a:pt x="745490" y="502920"/>
                  </a:cubicBezTo>
                  <a:cubicBezTo>
                    <a:pt x="763270" y="516890"/>
                    <a:pt x="789940" y="544830"/>
                    <a:pt x="798830" y="571500"/>
                  </a:cubicBezTo>
                  <a:cubicBezTo>
                    <a:pt x="807720" y="596900"/>
                    <a:pt x="807720" y="632460"/>
                    <a:pt x="800100" y="657860"/>
                  </a:cubicBezTo>
                  <a:cubicBezTo>
                    <a:pt x="791210" y="684530"/>
                    <a:pt x="770890" y="712470"/>
                    <a:pt x="748030" y="727710"/>
                  </a:cubicBezTo>
                  <a:cubicBezTo>
                    <a:pt x="725170" y="744220"/>
                    <a:pt x="688340" y="751840"/>
                    <a:pt x="664210" y="751840"/>
                  </a:cubicBezTo>
                  <a:cubicBezTo>
                    <a:pt x="647700" y="753110"/>
                    <a:pt x="638810" y="749300"/>
                    <a:pt x="621030" y="742950"/>
                  </a:cubicBezTo>
                  <a:cubicBezTo>
                    <a:pt x="594360" y="732790"/>
                    <a:pt x="552450" y="708660"/>
                    <a:pt x="518160" y="684530"/>
                  </a:cubicBezTo>
                  <a:cubicBezTo>
                    <a:pt x="481330" y="659130"/>
                    <a:pt x="450850" y="635000"/>
                    <a:pt x="407670" y="594360"/>
                  </a:cubicBezTo>
                  <a:cubicBezTo>
                    <a:pt x="335280" y="530860"/>
                    <a:pt x="210820" y="405130"/>
                    <a:pt x="139700" y="326390"/>
                  </a:cubicBezTo>
                  <a:cubicBezTo>
                    <a:pt x="87630" y="270510"/>
                    <a:pt x="33020" y="220980"/>
                    <a:pt x="13970" y="175260"/>
                  </a:cubicBezTo>
                  <a:cubicBezTo>
                    <a:pt x="1270" y="144780"/>
                    <a:pt x="0" y="115570"/>
                    <a:pt x="5080" y="91440"/>
                  </a:cubicBezTo>
                  <a:cubicBezTo>
                    <a:pt x="7620" y="72390"/>
                    <a:pt x="19050" y="54610"/>
                    <a:pt x="30480" y="41910"/>
                  </a:cubicBezTo>
                  <a:cubicBezTo>
                    <a:pt x="43180" y="27940"/>
                    <a:pt x="60960" y="16510"/>
                    <a:pt x="77470" y="10160"/>
                  </a:cubicBezTo>
                  <a:cubicBezTo>
                    <a:pt x="95250" y="2540"/>
                    <a:pt x="114300" y="0"/>
                    <a:pt x="134620" y="2540"/>
                  </a:cubicBezTo>
                  <a:cubicBezTo>
                    <a:pt x="157480" y="7620"/>
                    <a:pt x="208280" y="41910"/>
                    <a:pt x="208280" y="41910"/>
                  </a:cubicBezTo>
                </a:path>
              </a:pathLst>
            </a:custGeom>
            <a:solidFill>
              <a:srgbClr val="88A3CE"/>
            </a:solidFill>
            <a:ln cap="sq">
              <a:noFill/>
              <a:prstDash val="solid"/>
              <a:miter/>
            </a:ln>
          </p:spPr>
        </p:sp>
      </p:grpSp>
      <p:grpSp>
        <p:nvGrpSpPr>
          <p:cNvPr id="16" name="Group 16"/>
          <p:cNvGrpSpPr/>
          <p:nvPr/>
        </p:nvGrpSpPr>
        <p:grpSpPr>
          <a:xfrm rot="-5466542">
            <a:off x="12801005" y="2036320"/>
            <a:ext cx="621819" cy="241559"/>
            <a:chOff x="0" y="0"/>
            <a:chExt cx="1013460" cy="393700"/>
          </a:xfrm>
        </p:grpSpPr>
        <p:sp>
          <p:nvSpPr>
            <p:cNvPr id="17" name="Freeform 17"/>
            <p:cNvSpPr/>
            <p:nvPr/>
          </p:nvSpPr>
          <p:spPr>
            <a:xfrm>
              <a:off x="49530" y="46990"/>
              <a:ext cx="918210" cy="308610"/>
            </a:xfrm>
            <a:custGeom>
              <a:avLst/>
              <a:gdLst/>
              <a:ahLst/>
              <a:cxnLst/>
              <a:rect l="l" t="t" r="r" b="b"/>
              <a:pathLst>
                <a:path w="918210" h="308610">
                  <a:moveTo>
                    <a:pt x="124460" y="46990"/>
                  </a:moveTo>
                  <a:cubicBezTo>
                    <a:pt x="711200" y="30480"/>
                    <a:pt x="711200" y="19050"/>
                    <a:pt x="726440" y="13970"/>
                  </a:cubicBezTo>
                  <a:cubicBezTo>
                    <a:pt x="749300" y="6350"/>
                    <a:pt x="786130" y="0"/>
                    <a:pt x="812800" y="6350"/>
                  </a:cubicBezTo>
                  <a:cubicBezTo>
                    <a:pt x="839470" y="12700"/>
                    <a:pt x="869950" y="35560"/>
                    <a:pt x="885190" y="52070"/>
                  </a:cubicBezTo>
                  <a:cubicBezTo>
                    <a:pt x="896620" y="63500"/>
                    <a:pt x="902970" y="73660"/>
                    <a:pt x="906780" y="90170"/>
                  </a:cubicBezTo>
                  <a:cubicBezTo>
                    <a:pt x="913130" y="111760"/>
                    <a:pt x="918210" y="149860"/>
                    <a:pt x="909320" y="175260"/>
                  </a:cubicBezTo>
                  <a:cubicBezTo>
                    <a:pt x="901700" y="201930"/>
                    <a:pt x="881380" y="229870"/>
                    <a:pt x="859790" y="246380"/>
                  </a:cubicBezTo>
                  <a:cubicBezTo>
                    <a:pt x="838200" y="261620"/>
                    <a:pt x="801370" y="270510"/>
                    <a:pt x="777240" y="271780"/>
                  </a:cubicBezTo>
                  <a:cubicBezTo>
                    <a:pt x="760730" y="273050"/>
                    <a:pt x="749300" y="270510"/>
                    <a:pt x="735330" y="264160"/>
                  </a:cubicBezTo>
                  <a:cubicBezTo>
                    <a:pt x="713740" y="254000"/>
                    <a:pt x="681990" y="232410"/>
                    <a:pt x="668020" y="209550"/>
                  </a:cubicBezTo>
                  <a:cubicBezTo>
                    <a:pt x="652780" y="186690"/>
                    <a:pt x="643890" y="153670"/>
                    <a:pt x="646430" y="127000"/>
                  </a:cubicBezTo>
                  <a:cubicBezTo>
                    <a:pt x="648970" y="99060"/>
                    <a:pt x="661670" y="67310"/>
                    <a:pt x="679450" y="46990"/>
                  </a:cubicBezTo>
                  <a:cubicBezTo>
                    <a:pt x="698500" y="26670"/>
                    <a:pt x="732790" y="11430"/>
                    <a:pt x="754380" y="5080"/>
                  </a:cubicBezTo>
                  <a:cubicBezTo>
                    <a:pt x="770890" y="0"/>
                    <a:pt x="782320" y="0"/>
                    <a:pt x="798830" y="3810"/>
                  </a:cubicBezTo>
                  <a:cubicBezTo>
                    <a:pt x="820420" y="7620"/>
                    <a:pt x="857250" y="26670"/>
                    <a:pt x="875030" y="40640"/>
                  </a:cubicBezTo>
                  <a:cubicBezTo>
                    <a:pt x="887730" y="52070"/>
                    <a:pt x="895350" y="60960"/>
                    <a:pt x="901700" y="76200"/>
                  </a:cubicBezTo>
                  <a:cubicBezTo>
                    <a:pt x="909320" y="97790"/>
                    <a:pt x="918210" y="134620"/>
                    <a:pt x="913130" y="161290"/>
                  </a:cubicBezTo>
                  <a:cubicBezTo>
                    <a:pt x="908050" y="187960"/>
                    <a:pt x="896620" y="217170"/>
                    <a:pt x="871220" y="236220"/>
                  </a:cubicBezTo>
                  <a:cubicBezTo>
                    <a:pt x="829310" y="269240"/>
                    <a:pt x="735330" y="284480"/>
                    <a:pt x="651510" y="295910"/>
                  </a:cubicBezTo>
                  <a:cubicBezTo>
                    <a:pt x="544830" y="308610"/>
                    <a:pt x="383540" y="297180"/>
                    <a:pt x="279400" y="292100"/>
                  </a:cubicBezTo>
                  <a:cubicBezTo>
                    <a:pt x="204470" y="289560"/>
                    <a:pt x="132080" y="294640"/>
                    <a:pt x="85090" y="278130"/>
                  </a:cubicBezTo>
                  <a:cubicBezTo>
                    <a:pt x="55880" y="265430"/>
                    <a:pt x="33020" y="246380"/>
                    <a:pt x="19050" y="227330"/>
                  </a:cubicBezTo>
                  <a:cubicBezTo>
                    <a:pt x="7620" y="210820"/>
                    <a:pt x="2540" y="191770"/>
                    <a:pt x="1270" y="172720"/>
                  </a:cubicBezTo>
                  <a:cubicBezTo>
                    <a:pt x="0" y="154940"/>
                    <a:pt x="3810" y="134620"/>
                    <a:pt x="11430" y="118110"/>
                  </a:cubicBezTo>
                  <a:cubicBezTo>
                    <a:pt x="19050" y="100330"/>
                    <a:pt x="29210" y="83820"/>
                    <a:pt x="45720" y="72390"/>
                  </a:cubicBezTo>
                  <a:cubicBezTo>
                    <a:pt x="64770" y="58420"/>
                    <a:pt x="124460" y="46990"/>
                    <a:pt x="124460" y="46990"/>
                  </a:cubicBezTo>
                </a:path>
              </a:pathLst>
            </a:custGeom>
            <a:solidFill>
              <a:srgbClr val="88A3CE"/>
            </a:solidFill>
            <a:ln cap="sq">
              <a:noFill/>
              <a:prstDash val="solid"/>
              <a:miter/>
            </a:ln>
          </p:spPr>
        </p:sp>
      </p:grpSp>
      <p:grpSp>
        <p:nvGrpSpPr>
          <p:cNvPr id="18" name="Group 18"/>
          <p:cNvGrpSpPr/>
          <p:nvPr/>
        </p:nvGrpSpPr>
        <p:grpSpPr>
          <a:xfrm rot="-5466542">
            <a:off x="13470167" y="2380458"/>
            <a:ext cx="287533" cy="490131"/>
            <a:chOff x="0" y="0"/>
            <a:chExt cx="468630" cy="798830"/>
          </a:xfrm>
        </p:grpSpPr>
        <p:sp>
          <p:nvSpPr>
            <p:cNvPr id="19" name="Freeform 19"/>
            <p:cNvSpPr/>
            <p:nvPr/>
          </p:nvSpPr>
          <p:spPr>
            <a:xfrm>
              <a:off x="44450" y="43180"/>
              <a:ext cx="379730" cy="706120"/>
            </a:xfrm>
            <a:custGeom>
              <a:avLst/>
              <a:gdLst/>
              <a:ahLst/>
              <a:cxnLst/>
              <a:rect l="l" t="t" r="r" b="b"/>
              <a:pathLst>
                <a:path w="379730" h="706120">
                  <a:moveTo>
                    <a:pt x="236220" y="106680"/>
                  </a:moveTo>
                  <a:cubicBezTo>
                    <a:pt x="299720" y="463550"/>
                    <a:pt x="356870" y="494030"/>
                    <a:pt x="369570" y="533400"/>
                  </a:cubicBezTo>
                  <a:cubicBezTo>
                    <a:pt x="379730" y="562610"/>
                    <a:pt x="377190" y="591820"/>
                    <a:pt x="369570" y="617220"/>
                  </a:cubicBezTo>
                  <a:cubicBezTo>
                    <a:pt x="360680" y="641350"/>
                    <a:pt x="339090" y="668020"/>
                    <a:pt x="317500" y="683260"/>
                  </a:cubicBezTo>
                  <a:cubicBezTo>
                    <a:pt x="295910" y="697230"/>
                    <a:pt x="262890" y="706120"/>
                    <a:pt x="236220" y="703580"/>
                  </a:cubicBezTo>
                  <a:cubicBezTo>
                    <a:pt x="210820" y="702310"/>
                    <a:pt x="179070" y="689610"/>
                    <a:pt x="160020" y="671830"/>
                  </a:cubicBezTo>
                  <a:cubicBezTo>
                    <a:pt x="139700" y="655320"/>
                    <a:pt x="121920" y="626110"/>
                    <a:pt x="116840" y="599440"/>
                  </a:cubicBezTo>
                  <a:cubicBezTo>
                    <a:pt x="111760" y="574040"/>
                    <a:pt x="119380" y="538480"/>
                    <a:pt x="127000" y="516890"/>
                  </a:cubicBezTo>
                  <a:cubicBezTo>
                    <a:pt x="133350" y="501650"/>
                    <a:pt x="139700" y="492760"/>
                    <a:pt x="151130" y="482600"/>
                  </a:cubicBezTo>
                  <a:cubicBezTo>
                    <a:pt x="168910" y="467360"/>
                    <a:pt x="203200" y="449580"/>
                    <a:pt x="226060" y="444500"/>
                  </a:cubicBezTo>
                  <a:cubicBezTo>
                    <a:pt x="241300" y="440690"/>
                    <a:pt x="252730" y="440690"/>
                    <a:pt x="267970" y="444500"/>
                  </a:cubicBezTo>
                  <a:cubicBezTo>
                    <a:pt x="289560" y="449580"/>
                    <a:pt x="325120" y="469900"/>
                    <a:pt x="341630" y="485140"/>
                  </a:cubicBezTo>
                  <a:cubicBezTo>
                    <a:pt x="353060" y="495300"/>
                    <a:pt x="359410" y="504190"/>
                    <a:pt x="364490" y="519430"/>
                  </a:cubicBezTo>
                  <a:cubicBezTo>
                    <a:pt x="372110" y="541020"/>
                    <a:pt x="375920" y="580390"/>
                    <a:pt x="373380" y="603250"/>
                  </a:cubicBezTo>
                  <a:cubicBezTo>
                    <a:pt x="370840" y="618490"/>
                    <a:pt x="365760" y="629920"/>
                    <a:pt x="356870" y="642620"/>
                  </a:cubicBezTo>
                  <a:cubicBezTo>
                    <a:pt x="342900" y="660400"/>
                    <a:pt x="312420" y="685800"/>
                    <a:pt x="292100" y="695960"/>
                  </a:cubicBezTo>
                  <a:cubicBezTo>
                    <a:pt x="278130" y="702310"/>
                    <a:pt x="266700" y="704850"/>
                    <a:pt x="251460" y="704850"/>
                  </a:cubicBezTo>
                  <a:cubicBezTo>
                    <a:pt x="228600" y="703580"/>
                    <a:pt x="198120" y="695960"/>
                    <a:pt x="170180" y="680720"/>
                  </a:cubicBezTo>
                  <a:cubicBezTo>
                    <a:pt x="135890" y="662940"/>
                    <a:pt x="90170" y="631190"/>
                    <a:pt x="67310" y="594360"/>
                  </a:cubicBezTo>
                  <a:cubicBezTo>
                    <a:pt x="43180" y="554990"/>
                    <a:pt x="41910" y="508000"/>
                    <a:pt x="31750" y="449580"/>
                  </a:cubicBezTo>
                  <a:cubicBezTo>
                    <a:pt x="19050" y="364490"/>
                    <a:pt x="0" y="200660"/>
                    <a:pt x="6350" y="130810"/>
                  </a:cubicBezTo>
                  <a:cubicBezTo>
                    <a:pt x="10160" y="95250"/>
                    <a:pt x="15240" y="71120"/>
                    <a:pt x="27940" y="52070"/>
                  </a:cubicBezTo>
                  <a:cubicBezTo>
                    <a:pt x="38100" y="35560"/>
                    <a:pt x="52070" y="22860"/>
                    <a:pt x="69850" y="15240"/>
                  </a:cubicBezTo>
                  <a:cubicBezTo>
                    <a:pt x="91440" y="6350"/>
                    <a:pt x="125730" y="0"/>
                    <a:pt x="151130" y="7620"/>
                  </a:cubicBezTo>
                  <a:cubicBezTo>
                    <a:pt x="175260" y="13970"/>
                    <a:pt x="203200" y="35560"/>
                    <a:pt x="217170" y="54610"/>
                  </a:cubicBezTo>
                  <a:cubicBezTo>
                    <a:pt x="228600" y="69850"/>
                    <a:pt x="236220" y="106680"/>
                    <a:pt x="236220" y="106680"/>
                  </a:cubicBezTo>
                </a:path>
              </a:pathLst>
            </a:custGeom>
            <a:solidFill>
              <a:srgbClr val="88A3CE"/>
            </a:solidFill>
            <a:ln cap="sq">
              <a:noFill/>
              <a:prstDash val="solid"/>
              <a:miter/>
            </a:ln>
          </p:spPr>
        </p:sp>
      </p:grpSp>
      <p:sp>
        <p:nvSpPr>
          <p:cNvPr id="20" name="Freeform 20"/>
          <p:cNvSpPr/>
          <p:nvPr/>
        </p:nvSpPr>
        <p:spPr>
          <a:xfrm>
            <a:off x="15412853" y="-367037"/>
            <a:ext cx="3692894" cy="2316452"/>
          </a:xfrm>
          <a:custGeom>
            <a:avLst/>
            <a:gdLst/>
            <a:ahLst/>
            <a:cxnLst/>
            <a:rect l="l" t="t" r="r" b="b"/>
            <a:pathLst>
              <a:path w="3692894" h="2316452">
                <a:moveTo>
                  <a:pt x="0" y="0"/>
                </a:moveTo>
                <a:lnTo>
                  <a:pt x="3692894" y="0"/>
                </a:lnTo>
                <a:lnTo>
                  <a:pt x="3692894" y="2316451"/>
                </a:lnTo>
                <a:lnTo>
                  <a:pt x="0" y="231645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1" name="Freeform 21"/>
          <p:cNvSpPr/>
          <p:nvPr/>
        </p:nvSpPr>
        <p:spPr>
          <a:xfrm rot="-1008282" flipH="1">
            <a:off x="15390590" y="2224730"/>
            <a:ext cx="2659752" cy="3491322"/>
          </a:xfrm>
          <a:custGeom>
            <a:avLst/>
            <a:gdLst/>
            <a:ahLst/>
            <a:cxnLst/>
            <a:rect l="l" t="t" r="r" b="b"/>
            <a:pathLst>
              <a:path w="2659752" h="3491322">
                <a:moveTo>
                  <a:pt x="2659753" y="0"/>
                </a:moveTo>
                <a:lnTo>
                  <a:pt x="0" y="0"/>
                </a:lnTo>
                <a:lnTo>
                  <a:pt x="0" y="3491322"/>
                </a:lnTo>
                <a:lnTo>
                  <a:pt x="2659753" y="3491322"/>
                </a:lnTo>
                <a:lnTo>
                  <a:pt x="2659753"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22" name="Group 22"/>
          <p:cNvGrpSpPr/>
          <p:nvPr/>
        </p:nvGrpSpPr>
        <p:grpSpPr>
          <a:xfrm>
            <a:off x="689154" y="7666979"/>
            <a:ext cx="4675326" cy="888766"/>
            <a:chOff x="0" y="0"/>
            <a:chExt cx="6233768" cy="1185021"/>
          </a:xfrm>
        </p:grpSpPr>
        <p:sp>
          <p:nvSpPr>
            <p:cNvPr id="23" name="Freeform 23"/>
            <p:cNvSpPr/>
            <p:nvPr/>
          </p:nvSpPr>
          <p:spPr>
            <a:xfrm>
              <a:off x="53874" y="57020"/>
              <a:ext cx="6124603" cy="1068503"/>
            </a:xfrm>
            <a:custGeom>
              <a:avLst/>
              <a:gdLst/>
              <a:ahLst/>
              <a:cxnLst/>
              <a:rect l="l" t="t" r="r" b="b"/>
              <a:pathLst>
                <a:path w="6124603" h="1068503">
                  <a:moveTo>
                    <a:pt x="260863" y="69415"/>
                  </a:moveTo>
                  <a:cubicBezTo>
                    <a:pt x="3585445" y="99165"/>
                    <a:pt x="5531991" y="0"/>
                    <a:pt x="5841057" y="42145"/>
                  </a:cubicBezTo>
                  <a:cubicBezTo>
                    <a:pt x="5892095" y="49582"/>
                    <a:pt x="5902019" y="52061"/>
                    <a:pt x="5930374" y="66936"/>
                  </a:cubicBezTo>
                  <a:cubicBezTo>
                    <a:pt x="5958728" y="84290"/>
                    <a:pt x="5987083" y="111560"/>
                    <a:pt x="6011184" y="143789"/>
                  </a:cubicBezTo>
                  <a:cubicBezTo>
                    <a:pt x="6035286" y="173539"/>
                    <a:pt x="6057970" y="215684"/>
                    <a:pt x="6073565" y="257829"/>
                  </a:cubicBezTo>
                  <a:cubicBezTo>
                    <a:pt x="6090577" y="302453"/>
                    <a:pt x="6104755" y="352035"/>
                    <a:pt x="6111843" y="404097"/>
                  </a:cubicBezTo>
                  <a:cubicBezTo>
                    <a:pt x="6120350" y="453680"/>
                    <a:pt x="6124603" y="510699"/>
                    <a:pt x="6121768" y="562761"/>
                  </a:cubicBezTo>
                  <a:cubicBezTo>
                    <a:pt x="6120350" y="614823"/>
                    <a:pt x="6113261" y="669363"/>
                    <a:pt x="6103337" y="718946"/>
                  </a:cubicBezTo>
                  <a:cubicBezTo>
                    <a:pt x="6091995" y="766049"/>
                    <a:pt x="6074983" y="815632"/>
                    <a:pt x="6055134" y="855298"/>
                  </a:cubicBezTo>
                  <a:cubicBezTo>
                    <a:pt x="6036703" y="894964"/>
                    <a:pt x="6011184" y="929671"/>
                    <a:pt x="5985665" y="956942"/>
                  </a:cubicBezTo>
                  <a:cubicBezTo>
                    <a:pt x="5960146" y="984212"/>
                    <a:pt x="5930374" y="1006524"/>
                    <a:pt x="5902019" y="1016441"/>
                  </a:cubicBezTo>
                  <a:cubicBezTo>
                    <a:pt x="5872246" y="1028836"/>
                    <a:pt x="5839639" y="1031316"/>
                    <a:pt x="5809867" y="1026357"/>
                  </a:cubicBezTo>
                  <a:cubicBezTo>
                    <a:pt x="5780094" y="1018920"/>
                    <a:pt x="5750322" y="1004045"/>
                    <a:pt x="5721967" y="981733"/>
                  </a:cubicBezTo>
                  <a:cubicBezTo>
                    <a:pt x="5695030" y="961900"/>
                    <a:pt x="5668093" y="929671"/>
                    <a:pt x="5646827" y="892485"/>
                  </a:cubicBezTo>
                  <a:cubicBezTo>
                    <a:pt x="5625561" y="857777"/>
                    <a:pt x="5605713" y="813153"/>
                    <a:pt x="5591536" y="766049"/>
                  </a:cubicBezTo>
                  <a:cubicBezTo>
                    <a:pt x="5577359" y="718946"/>
                    <a:pt x="5567434" y="666884"/>
                    <a:pt x="5563181" y="614823"/>
                  </a:cubicBezTo>
                  <a:cubicBezTo>
                    <a:pt x="5557510" y="562761"/>
                    <a:pt x="5557510" y="508220"/>
                    <a:pt x="5563181" y="456159"/>
                  </a:cubicBezTo>
                  <a:cubicBezTo>
                    <a:pt x="5567434" y="404097"/>
                    <a:pt x="5577359" y="349556"/>
                    <a:pt x="5591536" y="304932"/>
                  </a:cubicBezTo>
                  <a:cubicBezTo>
                    <a:pt x="5605713" y="257829"/>
                    <a:pt x="5625561" y="213205"/>
                    <a:pt x="5646827" y="178497"/>
                  </a:cubicBezTo>
                  <a:cubicBezTo>
                    <a:pt x="5668093" y="141310"/>
                    <a:pt x="5695030" y="109081"/>
                    <a:pt x="5721967" y="86769"/>
                  </a:cubicBezTo>
                  <a:cubicBezTo>
                    <a:pt x="5750322" y="66936"/>
                    <a:pt x="5780094" y="49582"/>
                    <a:pt x="5809867" y="44624"/>
                  </a:cubicBezTo>
                  <a:cubicBezTo>
                    <a:pt x="5839639" y="39666"/>
                    <a:pt x="5872246" y="42145"/>
                    <a:pt x="5902019" y="54541"/>
                  </a:cubicBezTo>
                  <a:cubicBezTo>
                    <a:pt x="5930374" y="64457"/>
                    <a:pt x="5960146" y="86769"/>
                    <a:pt x="5985665" y="114040"/>
                  </a:cubicBezTo>
                  <a:cubicBezTo>
                    <a:pt x="6012602" y="138831"/>
                    <a:pt x="6036703" y="176018"/>
                    <a:pt x="6055134" y="215684"/>
                  </a:cubicBezTo>
                  <a:cubicBezTo>
                    <a:pt x="6074983" y="255350"/>
                    <a:pt x="6091995" y="304932"/>
                    <a:pt x="6103337" y="352035"/>
                  </a:cubicBezTo>
                  <a:cubicBezTo>
                    <a:pt x="6113261" y="401618"/>
                    <a:pt x="6120350" y="456159"/>
                    <a:pt x="6121768" y="508220"/>
                  </a:cubicBezTo>
                  <a:cubicBezTo>
                    <a:pt x="6124603" y="560282"/>
                    <a:pt x="6120350" y="617302"/>
                    <a:pt x="6111843" y="666884"/>
                  </a:cubicBezTo>
                  <a:cubicBezTo>
                    <a:pt x="6104755" y="718946"/>
                    <a:pt x="6090577" y="768528"/>
                    <a:pt x="6073565" y="813153"/>
                  </a:cubicBezTo>
                  <a:cubicBezTo>
                    <a:pt x="6057970" y="855298"/>
                    <a:pt x="6035286" y="894964"/>
                    <a:pt x="6011184" y="927192"/>
                  </a:cubicBezTo>
                  <a:cubicBezTo>
                    <a:pt x="5987083" y="959421"/>
                    <a:pt x="5958728" y="986691"/>
                    <a:pt x="5930374" y="1001566"/>
                  </a:cubicBezTo>
                  <a:cubicBezTo>
                    <a:pt x="5902019" y="1018920"/>
                    <a:pt x="5892095" y="1021399"/>
                    <a:pt x="5841057" y="1028836"/>
                  </a:cubicBezTo>
                  <a:cubicBezTo>
                    <a:pt x="5531991" y="1068502"/>
                    <a:pt x="3506052" y="976775"/>
                    <a:pt x="2593032" y="969337"/>
                  </a:cubicBezTo>
                  <a:cubicBezTo>
                    <a:pt x="1926698" y="964379"/>
                    <a:pt x="1295807" y="984212"/>
                    <a:pt x="863399" y="971817"/>
                  </a:cubicBezTo>
                  <a:cubicBezTo>
                    <a:pt x="603954" y="966858"/>
                    <a:pt x="365775" y="971817"/>
                    <a:pt x="241014" y="939588"/>
                  </a:cubicBezTo>
                  <a:cubicBezTo>
                    <a:pt x="187140" y="924713"/>
                    <a:pt x="155950" y="904880"/>
                    <a:pt x="127596" y="880089"/>
                  </a:cubicBezTo>
                  <a:cubicBezTo>
                    <a:pt x="106330" y="862735"/>
                    <a:pt x="93570" y="842902"/>
                    <a:pt x="79393" y="818111"/>
                  </a:cubicBezTo>
                  <a:cubicBezTo>
                    <a:pt x="65215" y="793320"/>
                    <a:pt x="52456" y="771007"/>
                    <a:pt x="41114" y="736300"/>
                  </a:cubicBezTo>
                  <a:cubicBezTo>
                    <a:pt x="25519" y="686717"/>
                    <a:pt x="7088" y="607385"/>
                    <a:pt x="2835" y="537970"/>
                  </a:cubicBezTo>
                  <a:cubicBezTo>
                    <a:pt x="0" y="471033"/>
                    <a:pt x="7088" y="394181"/>
                    <a:pt x="22684" y="332203"/>
                  </a:cubicBezTo>
                  <a:cubicBezTo>
                    <a:pt x="36861" y="270224"/>
                    <a:pt x="63798" y="210725"/>
                    <a:pt x="93570" y="166101"/>
                  </a:cubicBezTo>
                  <a:cubicBezTo>
                    <a:pt x="123343" y="123956"/>
                    <a:pt x="170128" y="91727"/>
                    <a:pt x="201318" y="76853"/>
                  </a:cubicBezTo>
                  <a:cubicBezTo>
                    <a:pt x="224001" y="66936"/>
                    <a:pt x="260863" y="69415"/>
                    <a:pt x="260863" y="69415"/>
                  </a:cubicBezTo>
                </a:path>
              </a:pathLst>
            </a:custGeom>
            <a:solidFill>
              <a:srgbClr val="88A3CE"/>
            </a:solidFill>
            <a:ln cap="sq">
              <a:noFill/>
              <a:prstDash val="solid"/>
              <a:miter/>
            </a:ln>
          </p:spPr>
        </p:sp>
      </p:grpSp>
      <p:sp>
        <p:nvSpPr>
          <p:cNvPr id="24" name="TextBox 24"/>
          <p:cNvSpPr txBox="1"/>
          <p:nvPr/>
        </p:nvSpPr>
        <p:spPr>
          <a:xfrm>
            <a:off x="422704" y="7918892"/>
            <a:ext cx="5208225" cy="802720"/>
          </a:xfrm>
          <a:prstGeom prst="rect">
            <a:avLst/>
          </a:prstGeom>
        </p:spPr>
        <p:txBody>
          <a:bodyPr lIns="0" tIns="0" rIns="0" bIns="0" rtlCol="0" anchor="t">
            <a:spAutoFit/>
          </a:bodyPr>
          <a:lstStyle/>
          <a:p>
            <a:pPr algn="ctr">
              <a:lnSpc>
                <a:spcPts val="3219"/>
              </a:lnSpc>
            </a:pPr>
            <a:r>
              <a:rPr lang="en-US" sz="2299" b="1" dirty="0">
                <a:solidFill>
                  <a:srgbClr val="FFFFFF"/>
                </a:solidFill>
                <a:latin typeface="Coco Gothic Bold"/>
                <a:ea typeface="Coco Gothic Bold"/>
                <a:cs typeface="Coco Gothic Bold"/>
                <a:sym typeface="Coco Gothic Bold"/>
              </a:rPr>
              <a:t>Suyash Patil</a:t>
            </a:r>
          </a:p>
          <a:p>
            <a:pPr algn="ctr">
              <a:lnSpc>
                <a:spcPts val="3219"/>
              </a:lnSpc>
            </a:pPr>
            <a:endParaRPr lang="en-US" sz="2299" b="1" dirty="0">
              <a:solidFill>
                <a:srgbClr val="FFFFFF"/>
              </a:solidFill>
              <a:latin typeface="Coco Gothic Bold"/>
              <a:ea typeface="Coco Gothic Bold"/>
              <a:cs typeface="Coco Gothic Bold"/>
              <a:sym typeface="Coco Gothic Bold"/>
            </a:endParaRPr>
          </a:p>
        </p:txBody>
      </p:sp>
      <p:sp>
        <p:nvSpPr>
          <p:cNvPr id="25" name="TextBox 25"/>
          <p:cNvSpPr txBox="1"/>
          <p:nvPr/>
        </p:nvSpPr>
        <p:spPr>
          <a:xfrm>
            <a:off x="3083659" y="2764482"/>
            <a:ext cx="12519937" cy="4079450"/>
          </a:xfrm>
          <a:prstGeom prst="rect">
            <a:avLst/>
          </a:prstGeom>
        </p:spPr>
        <p:txBody>
          <a:bodyPr lIns="0" tIns="0" rIns="0" bIns="0" rtlCol="0" anchor="t">
            <a:spAutoFit/>
          </a:bodyPr>
          <a:lstStyle/>
          <a:p>
            <a:pPr algn="ctr">
              <a:lnSpc>
                <a:spcPts val="10780"/>
              </a:lnSpc>
            </a:pPr>
            <a:r>
              <a:rPr lang="en-US" sz="7700" dirty="0">
                <a:solidFill>
                  <a:schemeClr val="accent6"/>
                </a:solidFill>
                <a:latin typeface="TAN Headline"/>
                <a:ea typeface="TAN Headline"/>
                <a:cs typeface="TAN Headline"/>
                <a:sym typeface="TAN Headline"/>
              </a:rPr>
              <a:t>Columbia Asia Hospital Analysis</a:t>
            </a:r>
          </a:p>
          <a:p>
            <a:pPr algn="ctr">
              <a:lnSpc>
                <a:spcPts val="10780"/>
              </a:lnSpc>
            </a:pPr>
            <a:endParaRPr lang="en-US" sz="7700" dirty="0">
              <a:solidFill>
                <a:srgbClr val="3B365F"/>
              </a:solidFill>
              <a:latin typeface="TAN Headline"/>
              <a:ea typeface="TAN Headline"/>
              <a:cs typeface="TAN Headline"/>
              <a:sym typeface="TAN Headline"/>
            </a:endParaRPr>
          </a:p>
        </p:txBody>
      </p:sp>
      <p:sp>
        <p:nvSpPr>
          <p:cNvPr id="26" name="TextBox 26"/>
          <p:cNvSpPr txBox="1"/>
          <p:nvPr/>
        </p:nvSpPr>
        <p:spPr>
          <a:xfrm>
            <a:off x="1358335" y="6867703"/>
            <a:ext cx="3272597" cy="799276"/>
          </a:xfrm>
          <a:prstGeom prst="rect">
            <a:avLst/>
          </a:prstGeom>
        </p:spPr>
        <p:txBody>
          <a:bodyPr lIns="0" tIns="0" rIns="0" bIns="0" rtlCol="0" anchor="t">
            <a:spAutoFit/>
          </a:bodyPr>
          <a:lstStyle/>
          <a:p>
            <a:pPr algn="ctr">
              <a:lnSpc>
                <a:spcPts val="5596"/>
              </a:lnSpc>
            </a:pPr>
            <a:r>
              <a:rPr lang="en-US" sz="3997">
                <a:solidFill>
                  <a:srgbClr val="000000"/>
                </a:solidFill>
                <a:latin typeface="Cooper Hewitt"/>
                <a:ea typeface="Cooper Hewitt"/>
                <a:cs typeface="Cooper Hewitt"/>
                <a:sym typeface="Cooper Hewitt"/>
              </a:rPr>
              <a:t>Submmited By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5" name="TextBox 5"/>
          <p:cNvSpPr txBox="1"/>
          <p:nvPr/>
        </p:nvSpPr>
        <p:spPr>
          <a:xfrm>
            <a:off x="709061" y="3401318"/>
            <a:ext cx="13549182" cy="2838726"/>
          </a:xfrm>
          <a:prstGeom prst="rect">
            <a:avLst/>
          </a:prstGeom>
        </p:spPr>
        <p:txBody>
          <a:bodyPr lIns="0" tIns="0" rIns="0" bIns="0" rtlCol="0" anchor="t">
            <a:spAutoFit/>
          </a:bodyPr>
          <a:lstStyle/>
          <a:p>
            <a:pPr algn="l">
              <a:lnSpc>
                <a:spcPts val="4545"/>
              </a:lnSpc>
            </a:pPr>
            <a:r>
              <a:rPr lang="en-US" sz="3247" dirty="0">
                <a:solidFill>
                  <a:srgbClr val="3B365F"/>
                </a:solidFill>
                <a:latin typeface="Times New Roman" panose="02020603050405020304" pitchFamily="18" charset="0"/>
                <a:ea typeface="Alice"/>
                <a:cs typeface="Times New Roman" panose="02020603050405020304" pitchFamily="18" charset="0"/>
                <a:sym typeface="Alice"/>
              </a:rPr>
              <a:t>You have been hired as a consultant data analyst by Columbia Asia Hospital. The Hospital is looking for key insights for the following objectives:</a:t>
            </a:r>
          </a:p>
          <a:p>
            <a:pPr marL="701032" lvl="1" indent="-350516" algn="l">
              <a:lnSpc>
                <a:spcPts val="4545"/>
              </a:lnSpc>
              <a:buFont typeface="Arial"/>
              <a:buChar char="•"/>
            </a:pPr>
            <a:r>
              <a:rPr lang="en-US" sz="3247" dirty="0">
                <a:solidFill>
                  <a:srgbClr val="3B365F"/>
                </a:solidFill>
                <a:latin typeface="Times New Roman" panose="02020603050405020304" pitchFamily="18" charset="0"/>
                <a:ea typeface="Alice"/>
                <a:cs typeface="Times New Roman" panose="02020603050405020304" pitchFamily="18" charset="0"/>
                <a:sym typeface="Alice"/>
              </a:rPr>
              <a:t>Assess the hospital's revenue generation</a:t>
            </a:r>
          </a:p>
          <a:p>
            <a:pPr marL="701032" lvl="1" indent="-350516" algn="l">
              <a:lnSpc>
                <a:spcPts val="4545"/>
              </a:lnSpc>
              <a:buFont typeface="Arial"/>
              <a:buChar char="•"/>
            </a:pPr>
            <a:r>
              <a:rPr lang="en-US" sz="3247" dirty="0">
                <a:solidFill>
                  <a:srgbClr val="3B365F"/>
                </a:solidFill>
                <a:latin typeface="Times New Roman" panose="02020603050405020304" pitchFamily="18" charset="0"/>
                <a:ea typeface="Alice"/>
                <a:cs typeface="Times New Roman" panose="02020603050405020304" pitchFamily="18" charset="0"/>
                <a:sym typeface="Alice"/>
              </a:rPr>
              <a:t>Insights about suitable departments for new hires</a:t>
            </a:r>
          </a:p>
          <a:p>
            <a:pPr marL="701032" lvl="1" indent="-350516" algn="l">
              <a:lnSpc>
                <a:spcPts val="4545"/>
              </a:lnSpc>
              <a:buFont typeface="Arial"/>
              <a:buChar char="•"/>
            </a:pPr>
            <a:r>
              <a:rPr lang="en-US" sz="3247" dirty="0">
                <a:solidFill>
                  <a:srgbClr val="3B365F"/>
                </a:solidFill>
                <a:latin typeface="Times New Roman" panose="02020603050405020304" pitchFamily="18" charset="0"/>
                <a:ea typeface="Alice"/>
                <a:cs typeface="Times New Roman" panose="02020603050405020304" pitchFamily="18" charset="0"/>
                <a:sym typeface="Alice"/>
              </a:rPr>
              <a:t>Strategies suggestions for patient discounts</a:t>
            </a:r>
          </a:p>
        </p:txBody>
      </p:sp>
      <p:sp>
        <p:nvSpPr>
          <p:cNvPr id="6" name="TextBox 6"/>
          <p:cNvSpPr txBox="1"/>
          <p:nvPr/>
        </p:nvSpPr>
        <p:spPr>
          <a:xfrm>
            <a:off x="-566021" y="895350"/>
            <a:ext cx="12576991" cy="1120775"/>
          </a:xfrm>
          <a:prstGeom prst="rect">
            <a:avLst/>
          </a:prstGeom>
        </p:spPr>
        <p:txBody>
          <a:bodyPr lIns="0" tIns="0" rIns="0" bIns="0" rtlCol="0" anchor="t">
            <a:spAutoFit/>
          </a:bodyPr>
          <a:lstStyle/>
          <a:p>
            <a:pPr algn="ctr">
              <a:lnSpc>
                <a:spcPts val="9100"/>
              </a:lnSpc>
            </a:pPr>
            <a:r>
              <a:rPr lang="en-US" sz="6500" dirty="0">
                <a:solidFill>
                  <a:schemeClr val="accent6"/>
                </a:solidFill>
                <a:latin typeface="TAN Headline"/>
                <a:ea typeface="TAN Headline"/>
                <a:cs typeface="TAN Headline"/>
                <a:sym typeface="TAN Headline"/>
              </a:rPr>
              <a:t>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Freeform 3"/>
          <p:cNvSpPr/>
          <p:nvPr/>
        </p:nvSpPr>
        <p:spPr>
          <a:xfrm flipH="1">
            <a:off x="14623194" y="4666292"/>
            <a:ext cx="2838696" cy="4592008"/>
          </a:xfrm>
          <a:custGeom>
            <a:avLst/>
            <a:gdLst/>
            <a:ahLst/>
            <a:cxnLst/>
            <a:rect l="l" t="t" r="r" b="b"/>
            <a:pathLst>
              <a:path w="2838696" h="4592008">
                <a:moveTo>
                  <a:pt x="2838696" y="0"/>
                </a:moveTo>
                <a:lnTo>
                  <a:pt x="0" y="0"/>
                </a:lnTo>
                <a:lnTo>
                  <a:pt x="0" y="4592008"/>
                </a:lnTo>
                <a:lnTo>
                  <a:pt x="2838696" y="4592008"/>
                </a:lnTo>
                <a:lnTo>
                  <a:pt x="28386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895350"/>
            <a:ext cx="9940611" cy="1120775"/>
          </a:xfrm>
          <a:prstGeom prst="rect">
            <a:avLst/>
          </a:prstGeom>
        </p:spPr>
        <p:txBody>
          <a:bodyPr lIns="0" tIns="0" rIns="0" bIns="0" rtlCol="0" anchor="t">
            <a:spAutoFit/>
          </a:bodyPr>
          <a:lstStyle/>
          <a:p>
            <a:pPr algn="l">
              <a:lnSpc>
                <a:spcPts val="9100"/>
              </a:lnSpc>
            </a:pPr>
            <a:r>
              <a:rPr lang="en-US" sz="6500" dirty="0">
                <a:solidFill>
                  <a:schemeClr val="accent6"/>
                </a:solidFill>
                <a:latin typeface="TAN Headline"/>
                <a:ea typeface="TAN Headline"/>
                <a:cs typeface="TAN Headline"/>
                <a:sym typeface="TAN Headline"/>
              </a:rPr>
              <a:t>Data Overview</a:t>
            </a:r>
          </a:p>
        </p:txBody>
      </p:sp>
      <p:sp>
        <p:nvSpPr>
          <p:cNvPr id="5" name="TextBox 5"/>
          <p:cNvSpPr txBox="1"/>
          <p:nvPr/>
        </p:nvSpPr>
        <p:spPr>
          <a:xfrm>
            <a:off x="826110" y="2545726"/>
            <a:ext cx="12149521" cy="6434455"/>
          </a:xfrm>
          <a:prstGeom prst="rect">
            <a:avLst/>
          </a:prstGeom>
        </p:spPr>
        <p:txBody>
          <a:bodyPr lIns="0" tIns="0" rIns="0" bIns="0" rtlCol="0" anchor="t">
            <a:spAutoFit/>
          </a:bodyPr>
          <a:lstStyle/>
          <a:p>
            <a:pPr marL="604519" lvl="1" indent="-302260" algn="l">
              <a:lnSpc>
                <a:spcPts val="3919"/>
              </a:lnSpc>
              <a:buFont typeface="Arial"/>
              <a:buChar char="•"/>
            </a:pPr>
            <a:r>
              <a:rPr lang="en-US" sz="2799" dirty="0">
                <a:latin typeface="Alice"/>
                <a:ea typeface="Alice"/>
                <a:cs typeface="Alice"/>
                <a:sym typeface="Alice"/>
              </a:rPr>
              <a:t>Date: This column contains date and time information without specifying AM or PM. The format is DD-MM-YYYY HH:MM.</a:t>
            </a:r>
          </a:p>
          <a:p>
            <a:pPr marL="604519" lvl="1" indent="-302260" algn="l">
              <a:lnSpc>
                <a:spcPts val="3919"/>
              </a:lnSpc>
              <a:buFont typeface="Arial"/>
              <a:buChar char="•"/>
            </a:pPr>
            <a:r>
              <a:rPr lang="en-US" sz="2799" dirty="0">
                <a:latin typeface="Alice"/>
                <a:ea typeface="Alice"/>
                <a:cs typeface="Alice"/>
                <a:sym typeface="Alice"/>
              </a:rPr>
              <a:t>Patient ID: Each patient is assigned a unique identifier, which seems to be in the format 124-62-3289.</a:t>
            </a:r>
          </a:p>
          <a:p>
            <a:pPr marL="604519" lvl="1" indent="-302260" algn="l">
              <a:lnSpc>
                <a:spcPts val="3919"/>
              </a:lnSpc>
              <a:buFont typeface="Arial"/>
              <a:buChar char="•"/>
            </a:pPr>
            <a:r>
              <a:rPr lang="en-US" sz="2799" dirty="0">
                <a:latin typeface="Alice"/>
                <a:ea typeface="Alice"/>
                <a:cs typeface="Alice"/>
                <a:sym typeface="Alice"/>
              </a:rPr>
              <a:t>Patient Gender: This column records the gender of the patient, denoted by 'M' for male and 'F' for female.</a:t>
            </a:r>
          </a:p>
          <a:p>
            <a:pPr marL="604519" lvl="1" indent="-302260" algn="l">
              <a:lnSpc>
                <a:spcPts val="3919"/>
              </a:lnSpc>
              <a:buFont typeface="Arial"/>
              <a:buChar char="•"/>
            </a:pPr>
            <a:r>
              <a:rPr lang="en-US" sz="2799" dirty="0">
                <a:latin typeface="Alice"/>
                <a:ea typeface="Alice"/>
                <a:cs typeface="Alice"/>
                <a:sym typeface="Alice"/>
              </a:rPr>
              <a:t>Patient Age: The age of the patients is listed in years.</a:t>
            </a:r>
          </a:p>
          <a:p>
            <a:pPr marL="604519" lvl="1" indent="-302260" algn="l">
              <a:lnSpc>
                <a:spcPts val="3919"/>
              </a:lnSpc>
              <a:buFont typeface="Arial"/>
              <a:buChar char="•"/>
            </a:pPr>
            <a:r>
              <a:rPr lang="en-US" sz="2799" dirty="0">
                <a:latin typeface="Alice"/>
                <a:ea typeface="Alice"/>
                <a:cs typeface="Alice"/>
                <a:sym typeface="Alice"/>
              </a:rPr>
              <a:t>Patient Sat Score: It seems to represent a satisfaction score given by or for the patient. However, the scores are single-digit, and it's not clear what the scale is.</a:t>
            </a:r>
          </a:p>
          <a:p>
            <a:pPr marL="604519" lvl="1" indent="-302260" algn="l">
              <a:lnSpc>
                <a:spcPts val="3919"/>
              </a:lnSpc>
              <a:buFont typeface="Arial"/>
              <a:buChar char="•"/>
            </a:pPr>
            <a:r>
              <a:rPr lang="en-US" sz="2799" dirty="0">
                <a:latin typeface="Alice"/>
                <a:ea typeface="Alice"/>
                <a:cs typeface="Alice"/>
                <a:sym typeface="Alice"/>
              </a:rPr>
              <a:t>Patient First Initial: This column contains the first initial of the patient's first name.</a:t>
            </a:r>
          </a:p>
          <a:p>
            <a:pPr marL="604519" lvl="1" indent="-302260" algn="l">
              <a:lnSpc>
                <a:spcPts val="3919"/>
              </a:lnSpc>
              <a:buFont typeface="Arial"/>
              <a:buChar char="•"/>
            </a:pPr>
            <a:r>
              <a:rPr lang="en-US" sz="2799" dirty="0">
                <a:latin typeface="Alice"/>
                <a:ea typeface="Alice"/>
                <a:cs typeface="Alice"/>
                <a:sym typeface="Alice"/>
              </a:rPr>
              <a:t>Patient Last Name: The surname of the patient is listed in this column.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4" name="TextBox 4"/>
          <p:cNvSpPr txBox="1"/>
          <p:nvPr/>
        </p:nvSpPr>
        <p:spPr>
          <a:xfrm>
            <a:off x="1028700" y="581718"/>
            <a:ext cx="9940611" cy="1120775"/>
          </a:xfrm>
          <a:prstGeom prst="rect">
            <a:avLst/>
          </a:prstGeom>
        </p:spPr>
        <p:txBody>
          <a:bodyPr lIns="0" tIns="0" rIns="0" bIns="0" rtlCol="0" anchor="t">
            <a:spAutoFit/>
          </a:bodyPr>
          <a:lstStyle/>
          <a:p>
            <a:pPr algn="l">
              <a:lnSpc>
                <a:spcPts val="9100"/>
              </a:lnSpc>
            </a:pPr>
            <a:r>
              <a:rPr lang="en-US" sz="6500" dirty="0">
                <a:solidFill>
                  <a:schemeClr val="accent6"/>
                </a:solidFill>
                <a:latin typeface="TAN Headline"/>
                <a:ea typeface="TAN Headline"/>
                <a:cs typeface="TAN Headline"/>
                <a:sym typeface="TAN Headline"/>
              </a:rPr>
              <a:t>Data Overview</a:t>
            </a:r>
          </a:p>
        </p:txBody>
      </p:sp>
      <p:sp>
        <p:nvSpPr>
          <p:cNvPr id="5" name="TextBox 5"/>
          <p:cNvSpPr txBox="1"/>
          <p:nvPr/>
        </p:nvSpPr>
        <p:spPr>
          <a:xfrm>
            <a:off x="826110" y="2118035"/>
            <a:ext cx="12149521" cy="7425055"/>
          </a:xfrm>
          <a:prstGeom prst="rect">
            <a:avLst/>
          </a:prstGeom>
        </p:spPr>
        <p:txBody>
          <a:bodyPr lIns="0" tIns="0" rIns="0" bIns="0" rtlCol="0" anchor="t">
            <a:spAutoFit/>
          </a:bodyPr>
          <a:lstStyle/>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Patient Race: The racial or ethnic background of the patient is recorded here, with categories such as 'White', 'African American', 'Asian', 'Native American/Alaska Native', and 'Two or More Races'.</a:t>
            </a:r>
          </a:p>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Patient Admin Flag: This column contains boolean values ('TRUE' or 'FALSE') which might indicate whether the patient was admitted or some other administrative flag.</a:t>
            </a:r>
          </a:p>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Patient Wait Time: Appears to indicate the time the patient waited, possibly in minutes, before being seen or processed.</a:t>
            </a:r>
          </a:p>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Department Referral: This column lists the department to which the patient was referred, with entries such as 'General Practice', 'Orthopedics', 'Gastroenterology', or 'None' indicating no referral.</a:t>
            </a:r>
          </a:p>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Doctor Name: Identifies the doctor who attended each patient.</a:t>
            </a:r>
          </a:p>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Appointment Fees: The cost charged for a doctor's consultation.</a:t>
            </a:r>
          </a:p>
          <a:p>
            <a:pPr marL="604519" lvl="1" indent="-302260" algn="l">
              <a:lnSpc>
                <a:spcPts val="3919"/>
              </a:lnSpc>
              <a:spcBef>
                <a:spcPct val="0"/>
              </a:spcBef>
              <a:buFont typeface="Arial"/>
              <a:buChar char="•"/>
            </a:pPr>
            <a:r>
              <a:rPr lang="en-US" sz="2799" u="none" strike="noStrike">
                <a:solidFill>
                  <a:srgbClr val="3B365F"/>
                </a:solidFill>
                <a:latin typeface="Alice"/>
                <a:ea typeface="Alice"/>
                <a:cs typeface="Alice"/>
                <a:sym typeface="Alice"/>
              </a:rPr>
              <a:t>Total Bill: The overall amount billed to the patient, including all services and charges.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5" name="TextBox 5"/>
          <p:cNvSpPr txBox="1"/>
          <p:nvPr/>
        </p:nvSpPr>
        <p:spPr>
          <a:xfrm>
            <a:off x="624840" y="1908128"/>
            <a:ext cx="14059955" cy="8004051"/>
          </a:xfrm>
          <a:prstGeom prst="rect">
            <a:avLst/>
          </a:prstGeom>
        </p:spPr>
        <p:txBody>
          <a:bodyPr lIns="0" tIns="0" rIns="0" bIns="0" rtlCol="0" anchor="t">
            <a:spAutoFit/>
          </a:bodyPr>
          <a:lstStyle/>
          <a:p>
            <a:pPr algn="l">
              <a:lnSpc>
                <a:spcPts val="3322"/>
              </a:lnSpc>
            </a:pPr>
            <a:r>
              <a:rPr lang="en-US" sz="2373" dirty="0">
                <a:latin typeface="Cambria" panose="02040503050406030204" pitchFamily="18" charset="0"/>
                <a:ea typeface="Cambria" panose="02040503050406030204" pitchFamily="18" charset="0"/>
                <a:cs typeface="Alice Bold"/>
                <a:sym typeface="Alice Bold"/>
              </a:rPr>
              <a:t>Data Loading &amp; Transformation:</a:t>
            </a:r>
          </a:p>
          <a:p>
            <a:pPr algn="l">
              <a:lnSpc>
                <a:spcPts val="3322"/>
              </a:lnSpc>
            </a:pPr>
            <a:endParaRPr lang="en-US" sz="2373" dirty="0">
              <a:latin typeface="Cambria" panose="02040503050406030204" pitchFamily="18" charset="0"/>
              <a:ea typeface="Cambria" panose="02040503050406030204" pitchFamily="18" charset="0"/>
              <a:cs typeface="Alice Bold"/>
              <a:sym typeface="Alice Bold"/>
            </a:endParaRPr>
          </a:p>
          <a:p>
            <a:pPr algn="l">
              <a:lnSpc>
                <a:spcPts val="3322"/>
              </a:lnSpc>
            </a:pPr>
            <a:r>
              <a:rPr lang="en-US" sz="2373" dirty="0">
                <a:latin typeface="Cambria" panose="02040503050406030204" pitchFamily="18" charset="0"/>
                <a:ea typeface="Cambria" panose="02040503050406030204" pitchFamily="18" charset="0"/>
                <a:cs typeface="Alice"/>
                <a:sym typeface="Alice"/>
              </a:rPr>
              <a:t>Imported datasets into Power BI and utilized Power Query Editor for data transformation tasks such as type conversion, filtering, and data cleansing to maintain data quality and uniformity.</a:t>
            </a:r>
          </a:p>
          <a:p>
            <a:pPr algn="l">
              <a:lnSpc>
                <a:spcPts val="3322"/>
              </a:lnSpc>
            </a:pPr>
            <a:endParaRPr lang="en-US" sz="2373" dirty="0">
              <a:latin typeface="Cambria" panose="02040503050406030204" pitchFamily="18" charset="0"/>
              <a:ea typeface="Cambria" panose="02040503050406030204" pitchFamily="18" charset="0"/>
              <a:cs typeface="Alice"/>
              <a:sym typeface="Alice"/>
            </a:endParaRPr>
          </a:p>
          <a:p>
            <a:pPr algn="l">
              <a:lnSpc>
                <a:spcPts val="3322"/>
              </a:lnSpc>
            </a:pPr>
            <a:r>
              <a:rPr lang="en-US" sz="2373" dirty="0">
                <a:latin typeface="Cambria" panose="02040503050406030204" pitchFamily="18" charset="0"/>
                <a:ea typeface="Cambria" panose="02040503050406030204" pitchFamily="18" charset="0"/>
                <a:cs typeface="Alice Bold"/>
                <a:sym typeface="Alice Bold"/>
              </a:rPr>
              <a:t>DAX Measure Development:</a:t>
            </a:r>
          </a:p>
          <a:p>
            <a:pPr algn="l">
              <a:lnSpc>
                <a:spcPts val="3322"/>
              </a:lnSpc>
            </a:pPr>
            <a:endParaRPr lang="en-US" sz="2373" dirty="0">
              <a:latin typeface="Cambria" panose="02040503050406030204" pitchFamily="18" charset="0"/>
              <a:ea typeface="Cambria" panose="02040503050406030204" pitchFamily="18" charset="0"/>
              <a:cs typeface="Alice Bold"/>
              <a:sym typeface="Alice Bold"/>
            </a:endParaRPr>
          </a:p>
          <a:p>
            <a:pPr algn="l">
              <a:lnSpc>
                <a:spcPts val="3322"/>
              </a:lnSpc>
            </a:pPr>
            <a:r>
              <a:rPr lang="en-US" sz="2373" dirty="0">
                <a:latin typeface="Cambria" panose="02040503050406030204" pitchFamily="18" charset="0"/>
                <a:ea typeface="Cambria" panose="02040503050406030204" pitchFamily="18" charset="0"/>
                <a:cs typeface="Alice"/>
                <a:sym typeface="Alice"/>
              </a:rPr>
              <a:t>Created robust DAX measures and calculated columns to support dynamic insights, leveraging functions like SUMX, CALCULATE, conditional logic, and time intelligence functions for trend and period-based analysis.</a:t>
            </a:r>
          </a:p>
          <a:p>
            <a:pPr algn="l">
              <a:lnSpc>
                <a:spcPts val="3322"/>
              </a:lnSpc>
            </a:pPr>
            <a:endParaRPr lang="en-US" sz="2373" dirty="0">
              <a:latin typeface="Cambria" panose="02040503050406030204" pitchFamily="18" charset="0"/>
              <a:ea typeface="Cambria" panose="02040503050406030204" pitchFamily="18" charset="0"/>
              <a:cs typeface="Alice"/>
              <a:sym typeface="Alice"/>
            </a:endParaRPr>
          </a:p>
          <a:p>
            <a:pPr algn="l">
              <a:lnSpc>
                <a:spcPts val="3322"/>
              </a:lnSpc>
            </a:pPr>
            <a:r>
              <a:rPr lang="en-US" sz="2373" dirty="0">
                <a:latin typeface="Cambria" panose="02040503050406030204" pitchFamily="18" charset="0"/>
                <a:ea typeface="Cambria" panose="02040503050406030204" pitchFamily="18" charset="0"/>
                <a:cs typeface="Alice Bold"/>
                <a:sym typeface="Alice Bold"/>
              </a:rPr>
              <a:t>Visualizations &amp; Storytelling:</a:t>
            </a:r>
          </a:p>
          <a:p>
            <a:pPr algn="l">
              <a:lnSpc>
                <a:spcPts val="3322"/>
              </a:lnSpc>
            </a:pPr>
            <a:r>
              <a:rPr lang="en-US" sz="2373" dirty="0">
                <a:latin typeface="Cambria" panose="02040503050406030204" pitchFamily="18" charset="0"/>
                <a:ea typeface="Cambria" panose="02040503050406030204" pitchFamily="18" charset="0"/>
                <a:cs typeface="Alice"/>
                <a:sym typeface="Alice"/>
              </a:rPr>
              <a:t>Built a variety of insightful visuals including bar and column charts, KPI cards, pie charts, and gauges to communicate key metrics effectively and highlight business trends.</a:t>
            </a:r>
          </a:p>
          <a:p>
            <a:pPr algn="l">
              <a:lnSpc>
                <a:spcPts val="3322"/>
              </a:lnSpc>
            </a:pPr>
            <a:endParaRPr lang="en-US" sz="2373" dirty="0">
              <a:latin typeface="Cambria" panose="02040503050406030204" pitchFamily="18" charset="0"/>
              <a:ea typeface="Cambria" panose="02040503050406030204" pitchFamily="18" charset="0"/>
              <a:cs typeface="Alice"/>
              <a:sym typeface="Alice"/>
            </a:endParaRPr>
          </a:p>
          <a:p>
            <a:pPr algn="l">
              <a:lnSpc>
                <a:spcPts val="3322"/>
              </a:lnSpc>
            </a:pPr>
            <a:r>
              <a:rPr lang="en-US" sz="2373" dirty="0">
                <a:latin typeface="Cambria" panose="02040503050406030204" pitchFamily="18" charset="0"/>
                <a:ea typeface="Cambria" panose="02040503050406030204" pitchFamily="18" charset="0"/>
                <a:cs typeface="Alice Bold"/>
                <a:sym typeface="Alice Bold"/>
              </a:rPr>
              <a:t>Interactive Reporting &amp; Dashboarding:</a:t>
            </a:r>
          </a:p>
          <a:p>
            <a:pPr algn="l">
              <a:lnSpc>
                <a:spcPts val="3322"/>
              </a:lnSpc>
            </a:pPr>
            <a:endParaRPr lang="en-US" sz="2373" dirty="0">
              <a:latin typeface="Cambria" panose="02040503050406030204" pitchFamily="18" charset="0"/>
              <a:ea typeface="Cambria" panose="02040503050406030204" pitchFamily="18" charset="0"/>
              <a:cs typeface="Alice Bold"/>
              <a:sym typeface="Alice Bold"/>
            </a:endParaRPr>
          </a:p>
          <a:p>
            <a:pPr algn="l">
              <a:lnSpc>
                <a:spcPts val="3322"/>
              </a:lnSpc>
            </a:pPr>
            <a:r>
              <a:rPr lang="en-US" sz="2373" dirty="0">
                <a:latin typeface="Cambria" panose="02040503050406030204" pitchFamily="18" charset="0"/>
                <a:ea typeface="Cambria" panose="02040503050406030204" pitchFamily="18" charset="0"/>
                <a:cs typeface="Alice"/>
                <a:sym typeface="Alice"/>
              </a:rPr>
              <a:t>Enhanced user interactivity through slicers, drill-through pages, and customized visual interactions, resulting in intuitive and user-friendly dashboards tailored for deep dive analysis.</a:t>
            </a:r>
          </a:p>
          <a:p>
            <a:pPr algn="l">
              <a:lnSpc>
                <a:spcPts val="3322"/>
              </a:lnSpc>
            </a:pPr>
            <a:endParaRPr lang="en-US" sz="2373" dirty="0">
              <a:solidFill>
                <a:srgbClr val="3B365F"/>
              </a:solidFill>
              <a:latin typeface="Cambria" panose="02040503050406030204" pitchFamily="18" charset="0"/>
              <a:ea typeface="Cambria" panose="02040503050406030204" pitchFamily="18" charset="0"/>
              <a:cs typeface="Alice"/>
              <a:sym typeface="Alice"/>
            </a:endParaRPr>
          </a:p>
        </p:txBody>
      </p:sp>
      <p:sp>
        <p:nvSpPr>
          <p:cNvPr id="6" name="TextBox 6"/>
          <p:cNvSpPr txBox="1"/>
          <p:nvPr/>
        </p:nvSpPr>
        <p:spPr>
          <a:xfrm>
            <a:off x="950530" y="401638"/>
            <a:ext cx="6704287" cy="1120775"/>
          </a:xfrm>
          <a:prstGeom prst="rect">
            <a:avLst/>
          </a:prstGeom>
        </p:spPr>
        <p:txBody>
          <a:bodyPr lIns="0" tIns="0" rIns="0" bIns="0" rtlCol="0" anchor="t">
            <a:spAutoFit/>
          </a:bodyPr>
          <a:lstStyle/>
          <a:p>
            <a:pPr algn="l">
              <a:lnSpc>
                <a:spcPts val="9100"/>
              </a:lnSpc>
            </a:pPr>
            <a:r>
              <a:rPr lang="en-US" sz="6500" dirty="0">
                <a:solidFill>
                  <a:schemeClr val="accent6"/>
                </a:solidFill>
                <a:latin typeface="TAN Headline"/>
                <a:ea typeface="TAN Headline"/>
                <a:cs typeface="TAN Headline"/>
                <a:sym typeface="TAN Headline"/>
              </a:rPr>
              <a:t>Methodology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12">
            <a:extLst>
              <a:ext uri="{FF2B5EF4-FFF2-40B4-BE49-F238E27FC236}">
                <a16:creationId xmlns:a16="http://schemas.microsoft.com/office/drawing/2014/main" id="{AB1062FD-4EE5-DF31-4F18-1AB17EDE95BB}"/>
              </a:ext>
            </a:extLst>
          </p:cNvPr>
          <p:cNvSpPr txBox="1">
            <a:spLocks/>
          </p:cNvSpPr>
          <p:nvPr/>
        </p:nvSpPr>
        <p:spPr>
          <a:xfrm>
            <a:off x="304800" y="342900"/>
            <a:ext cx="2765121" cy="958793"/>
          </a:xfrm>
          <a:prstGeom prst="rect">
            <a:avLst/>
          </a:prstGeom>
        </p:spPr>
        <p:txBody>
          <a:bodyP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a:solidFill>
                  <a:schemeClr val="accent6"/>
                </a:solidFill>
              </a:rPr>
              <a:t>KPI Analysis</a:t>
            </a:r>
          </a:p>
        </p:txBody>
      </p:sp>
      <p:sp>
        <p:nvSpPr>
          <p:cNvPr id="4" name="Text Placeholder 4">
            <a:extLst>
              <a:ext uri="{FF2B5EF4-FFF2-40B4-BE49-F238E27FC236}">
                <a16:creationId xmlns:a16="http://schemas.microsoft.com/office/drawing/2014/main" id="{6FE804BD-9568-C229-1713-355A51EE999F}"/>
              </a:ext>
            </a:extLst>
          </p:cNvPr>
          <p:cNvSpPr txBox="1">
            <a:spLocks/>
          </p:cNvSpPr>
          <p:nvPr/>
        </p:nvSpPr>
        <p:spPr>
          <a:xfrm>
            <a:off x="11887200" y="1483391"/>
            <a:ext cx="4679889" cy="4082277"/>
          </a:xfrm>
          <a:prstGeom prst="rect">
            <a:avLst/>
          </a:prstGeom>
        </p:spPr>
        <p:txBody>
          <a:bodyPr vert="horz" lIns="137160" tIns="68580" rIns="137160" bIns="6858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100" dirty="0">
              <a:latin typeface="Cambria" panose="02040503050406030204" pitchFamily="18" charset="0"/>
              <a:ea typeface="Cambria" panose="02040503050406030204" pitchFamily="18" charset="0"/>
            </a:endParaRPr>
          </a:p>
          <a:p>
            <a:r>
              <a:rPr lang="en-US" sz="2400" cap="all" spc="150" dirty="0">
                <a:solidFill>
                  <a:schemeClr val="accent4"/>
                </a:solidFill>
                <a:latin typeface="+mj-lt"/>
              </a:rPr>
              <a:t>Average </a:t>
            </a:r>
            <a:r>
              <a:rPr lang="en-IN" sz="2400" cap="all" spc="150" dirty="0">
                <a:solidFill>
                  <a:schemeClr val="accent4"/>
                </a:solidFill>
                <a:latin typeface="+mj-lt"/>
              </a:rPr>
              <a:t>Patient Spent</a:t>
            </a:r>
          </a:p>
          <a:p>
            <a:r>
              <a:rPr lang="en-IN" sz="2100" dirty="0">
                <a:latin typeface="Cambria" panose="02040503050406030204" pitchFamily="18" charset="0"/>
                <a:ea typeface="Cambria" panose="02040503050406030204" pitchFamily="18" charset="0"/>
              </a:rPr>
              <a:t>$55.6 k</a:t>
            </a:r>
          </a:p>
          <a:p>
            <a:endParaRPr lang="en-IN" sz="2100" dirty="0">
              <a:latin typeface="Cambria" panose="02040503050406030204" pitchFamily="18" charset="0"/>
              <a:ea typeface="Cambria" panose="02040503050406030204" pitchFamily="18" charset="0"/>
            </a:endParaRPr>
          </a:p>
          <a:p>
            <a:r>
              <a:rPr lang="en-IN" sz="2400" cap="all" spc="150" dirty="0">
                <a:solidFill>
                  <a:schemeClr val="accent4"/>
                </a:solidFill>
                <a:latin typeface="+mj-lt"/>
              </a:rPr>
              <a:t>Discount Eligibility </a:t>
            </a:r>
          </a:p>
          <a:p>
            <a:r>
              <a:rPr lang="en-IN" sz="2100" dirty="0">
                <a:latin typeface="Cambria" panose="02040503050406030204" pitchFamily="18" charset="0"/>
                <a:ea typeface="Cambria" panose="02040503050406030204" pitchFamily="18" charset="0"/>
              </a:rPr>
              <a:t>High Discount = $35 k</a:t>
            </a:r>
          </a:p>
          <a:p>
            <a:r>
              <a:rPr lang="en-IN" sz="2100" dirty="0">
                <a:latin typeface="Cambria" panose="02040503050406030204" pitchFamily="18" charset="0"/>
                <a:ea typeface="Cambria" panose="02040503050406030204" pitchFamily="18" charset="0"/>
              </a:rPr>
              <a:t>High Discount = $15 k</a:t>
            </a:r>
          </a:p>
          <a:p>
            <a:endParaRPr lang="en-US" sz="2100" dirty="0">
              <a:latin typeface="Cambria" panose="02040503050406030204" pitchFamily="18" charset="0"/>
              <a:ea typeface="Cambria" panose="02040503050406030204" pitchFamily="18" charset="0"/>
            </a:endParaRPr>
          </a:p>
          <a:p>
            <a:endParaRPr lang="en-US" sz="2100" dirty="0">
              <a:latin typeface="Cambria" panose="02040503050406030204" pitchFamily="18" charset="0"/>
              <a:ea typeface="Cambria" panose="02040503050406030204" pitchFamily="18" charset="0"/>
            </a:endParaRPr>
          </a:p>
          <a:p>
            <a:endParaRPr lang="en-IN" sz="1500" dirty="0"/>
          </a:p>
        </p:txBody>
      </p:sp>
      <p:sp>
        <p:nvSpPr>
          <p:cNvPr id="5" name="Text Placeholder 4">
            <a:extLst>
              <a:ext uri="{FF2B5EF4-FFF2-40B4-BE49-F238E27FC236}">
                <a16:creationId xmlns:a16="http://schemas.microsoft.com/office/drawing/2014/main" id="{D7C52225-D549-581B-036E-2E5D7A25ECE8}"/>
              </a:ext>
            </a:extLst>
          </p:cNvPr>
          <p:cNvSpPr txBox="1">
            <a:spLocks/>
          </p:cNvSpPr>
          <p:nvPr/>
        </p:nvSpPr>
        <p:spPr>
          <a:xfrm>
            <a:off x="6477000" y="1319915"/>
            <a:ext cx="4000500" cy="5488662"/>
          </a:xfrm>
          <a:prstGeom prst="rect">
            <a:avLst/>
          </a:prstGeom>
        </p:spPr>
        <p:txBody>
          <a:bodyPr vert="horz" lIns="137160" tIns="68580" rIns="137160" bIns="6858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cap="all" spc="150" dirty="0">
                <a:solidFill>
                  <a:schemeClr val="accent4"/>
                </a:solidFill>
                <a:latin typeface="+mj-lt"/>
              </a:rPr>
              <a:t>Total Revenue</a:t>
            </a:r>
          </a:p>
          <a:p>
            <a:r>
              <a:rPr lang="en-US" sz="2100" dirty="0">
                <a:latin typeface="Cambria" panose="02040503050406030204" pitchFamily="18" charset="0"/>
                <a:ea typeface="Cambria" panose="02040503050406030204" pitchFamily="18" charset="0"/>
              </a:rPr>
              <a:t>$509.31 M</a:t>
            </a:r>
          </a:p>
          <a:p>
            <a:endParaRPr lang="en-US" sz="1500" dirty="0"/>
          </a:p>
          <a:p>
            <a:r>
              <a:rPr lang="en-US" sz="2400" cap="all" spc="150" dirty="0">
                <a:solidFill>
                  <a:schemeClr val="accent4"/>
                </a:solidFill>
                <a:latin typeface="+mj-lt"/>
              </a:rPr>
              <a:t>Appointment Fee</a:t>
            </a:r>
          </a:p>
          <a:p>
            <a:r>
              <a:rPr lang="en-US" sz="2100" dirty="0">
                <a:latin typeface="Cambria" panose="02040503050406030204" pitchFamily="18" charset="0"/>
                <a:ea typeface="Cambria" panose="02040503050406030204" pitchFamily="18" charset="0"/>
              </a:rPr>
              <a:t>Cardiology: $1,200</a:t>
            </a:r>
          </a:p>
          <a:p>
            <a:r>
              <a:rPr lang="en-US" sz="2100" dirty="0">
                <a:latin typeface="Cambria" panose="02040503050406030204" pitchFamily="18" charset="0"/>
                <a:ea typeface="Cambria" panose="02040503050406030204" pitchFamily="18" charset="0"/>
              </a:rPr>
              <a:t>Gastroenterology: $700</a:t>
            </a:r>
          </a:p>
          <a:p>
            <a:r>
              <a:rPr lang="en-US" sz="2100" dirty="0">
                <a:latin typeface="Cambria" panose="02040503050406030204" pitchFamily="18" charset="0"/>
                <a:ea typeface="Cambria" panose="02040503050406030204" pitchFamily="18" charset="0"/>
              </a:rPr>
              <a:t>General Practice: $500</a:t>
            </a:r>
          </a:p>
          <a:p>
            <a:r>
              <a:rPr lang="en-US" sz="2100" dirty="0">
                <a:latin typeface="Cambria" panose="02040503050406030204" pitchFamily="18" charset="0"/>
                <a:ea typeface="Cambria" panose="02040503050406030204" pitchFamily="18" charset="0"/>
              </a:rPr>
              <a:t>Neurology: $1,500</a:t>
            </a:r>
          </a:p>
          <a:p>
            <a:r>
              <a:rPr lang="en-US" sz="2100" dirty="0">
                <a:latin typeface="Cambria" panose="02040503050406030204" pitchFamily="18" charset="0"/>
                <a:ea typeface="Cambria" panose="02040503050406030204" pitchFamily="18" charset="0"/>
              </a:rPr>
              <a:t>Orthopedics: $700</a:t>
            </a:r>
          </a:p>
          <a:p>
            <a:r>
              <a:rPr lang="en-US" sz="2100" dirty="0">
                <a:latin typeface="Cambria" panose="02040503050406030204" pitchFamily="18" charset="0"/>
                <a:ea typeface="Cambria" panose="02040503050406030204" pitchFamily="18" charset="0"/>
              </a:rPr>
              <a:t>Physiotherapy: $1,000</a:t>
            </a:r>
          </a:p>
          <a:p>
            <a:r>
              <a:rPr lang="en-US" sz="2100" dirty="0">
                <a:latin typeface="Cambria" panose="02040503050406030204" pitchFamily="18" charset="0"/>
                <a:ea typeface="Cambria" panose="02040503050406030204" pitchFamily="18" charset="0"/>
              </a:rPr>
              <a:t>Renal: $500</a:t>
            </a:r>
          </a:p>
          <a:p>
            <a:endParaRPr lang="en-IN" sz="1500" dirty="0"/>
          </a:p>
        </p:txBody>
      </p:sp>
      <p:sp>
        <p:nvSpPr>
          <p:cNvPr id="6" name="Text Placeholder 4">
            <a:extLst>
              <a:ext uri="{FF2B5EF4-FFF2-40B4-BE49-F238E27FC236}">
                <a16:creationId xmlns:a16="http://schemas.microsoft.com/office/drawing/2014/main" id="{91439BA5-2BD7-53D3-622F-920FFF67B64F}"/>
              </a:ext>
            </a:extLst>
          </p:cNvPr>
          <p:cNvSpPr txBox="1">
            <a:spLocks/>
          </p:cNvSpPr>
          <p:nvPr/>
        </p:nvSpPr>
        <p:spPr>
          <a:xfrm>
            <a:off x="971012" y="1483817"/>
            <a:ext cx="4197818" cy="5488662"/>
          </a:xfrm>
          <a:prstGeom prst="rect">
            <a:avLst/>
          </a:prstGeom>
        </p:spPr>
        <p:txBody>
          <a:bodyPr vert="horz" lIns="137160" tIns="68580" rIns="137160" bIns="6858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cap="all" spc="150" dirty="0">
                <a:solidFill>
                  <a:schemeClr val="accent4"/>
                </a:solidFill>
                <a:latin typeface="+mj-lt"/>
              </a:rPr>
              <a:t>Total Patients</a:t>
            </a:r>
          </a:p>
          <a:p>
            <a:r>
              <a:rPr lang="en-US" sz="2100" dirty="0">
                <a:latin typeface="Cambria" panose="02040503050406030204" pitchFamily="18" charset="0"/>
                <a:ea typeface="Cambria" panose="02040503050406030204" pitchFamily="18" charset="0"/>
              </a:rPr>
              <a:t>9216</a:t>
            </a:r>
          </a:p>
          <a:p>
            <a:endParaRPr lang="en-US" sz="1500" dirty="0"/>
          </a:p>
          <a:p>
            <a:r>
              <a:rPr lang="en-US" sz="2400" cap="all" spc="150" dirty="0">
                <a:solidFill>
                  <a:schemeClr val="accent4"/>
                </a:solidFill>
                <a:latin typeface="+mj-lt"/>
              </a:rPr>
              <a:t>Total Doctors</a:t>
            </a:r>
          </a:p>
          <a:p>
            <a:r>
              <a:rPr lang="en-US" sz="2100" dirty="0">
                <a:latin typeface="Cambria" panose="02040503050406030204" pitchFamily="18" charset="0"/>
                <a:ea typeface="Cambria" panose="02040503050406030204" pitchFamily="18" charset="0"/>
              </a:rPr>
              <a:t>22</a:t>
            </a:r>
          </a:p>
          <a:p>
            <a:endParaRPr lang="en-US" sz="2100" cap="all" spc="150" dirty="0">
              <a:solidFill>
                <a:schemeClr val="accent4"/>
              </a:solidFill>
            </a:endParaRPr>
          </a:p>
          <a:p>
            <a:r>
              <a:rPr lang="en-US" sz="2400" cap="all" spc="150" dirty="0">
                <a:solidFill>
                  <a:schemeClr val="accent4"/>
                </a:solidFill>
                <a:latin typeface="+mj-lt"/>
              </a:rPr>
              <a:t>Average Wait Time</a:t>
            </a:r>
          </a:p>
          <a:p>
            <a:r>
              <a:rPr lang="en-US" sz="1800" dirty="0">
                <a:latin typeface="Cambria" panose="02040503050406030204" pitchFamily="18" charset="0"/>
                <a:ea typeface="Cambria" panose="02040503050406030204" pitchFamily="18" charset="0"/>
              </a:rPr>
              <a:t>35.26 mins</a:t>
            </a:r>
          </a:p>
          <a:p>
            <a:endParaRPr lang="en-US" sz="2100" dirty="0"/>
          </a:p>
          <a:p>
            <a:r>
              <a:rPr lang="en-US" sz="2400" cap="all" spc="150" dirty="0">
                <a:solidFill>
                  <a:schemeClr val="accent4"/>
                </a:solidFill>
                <a:latin typeface="+mj-lt"/>
              </a:rPr>
              <a:t>Average </a:t>
            </a:r>
            <a:r>
              <a:rPr lang="en-IN" sz="2400" cap="all" spc="150" dirty="0">
                <a:solidFill>
                  <a:schemeClr val="accent4"/>
                </a:solidFill>
                <a:latin typeface="+mj-lt"/>
              </a:rPr>
              <a:t>Patient Score</a:t>
            </a:r>
            <a:endParaRPr lang="en-US" sz="2400" cap="all" spc="150" dirty="0">
              <a:solidFill>
                <a:schemeClr val="accent4"/>
              </a:solidFill>
              <a:latin typeface="+mj-lt"/>
            </a:endParaRPr>
          </a:p>
          <a:p>
            <a:r>
              <a:rPr lang="en-US" sz="1800" dirty="0">
                <a:latin typeface="Cambria" panose="02040503050406030204" pitchFamily="18" charset="0"/>
                <a:ea typeface="Cambria" panose="02040503050406030204" pitchFamily="18" charset="0"/>
              </a:rPr>
              <a:t>4.99</a:t>
            </a:r>
          </a:p>
          <a:p>
            <a:endParaRPr lang="en-IN" sz="1500" dirty="0"/>
          </a:p>
        </p:txBody>
      </p:sp>
    </p:spTree>
    <p:extLst>
      <p:ext uri="{BB962C8B-B14F-4D97-AF65-F5344CB8AC3E}">
        <p14:creationId xmlns:p14="http://schemas.microsoft.com/office/powerpoint/2010/main" val="251181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94A82-B476-CF50-2369-D80D1DD4EB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E74980-3BA5-4EBB-9F6F-0ECE9E1F8F64}"/>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7</a:t>
            </a:fld>
            <a:endParaRPr lang="en-US" dirty="0"/>
          </a:p>
        </p:txBody>
      </p:sp>
      <p:sp>
        <p:nvSpPr>
          <p:cNvPr id="37" name="Text Placeholder 36">
            <a:extLst>
              <a:ext uri="{FF2B5EF4-FFF2-40B4-BE49-F238E27FC236}">
                <a16:creationId xmlns:a16="http://schemas.microsoft.com/office/drawing/2014/main" id="{0FE98071-F328-5A1F-486C-597E45E860F5}"/>
              </a:ext>
            </a:extLst>
          </p:cNvPr>
          <p:cNvSpPr>
            <a:spLocks noGrp="1"/>
          </p:cNvSpPr>
          <p:nvPr>
            <p:ph type="body" sz="quarter" idx="13"/>
          </p:nvPr>
        </p:nvSpPr>
        <p:spPr>
          <a:xfrm>
            <a:off x="251384" y="2309564"/>
            <a:ext cx="10721417" cy="5540045"/>
          </a:xfrm>
        </p:spPr>
        <p:txBody>
          <a:bodyPr anchor="ctr"/>
          <a:lstStyle/>
          <a:p>
            <a:pPr fontAlgn="base">
              <a:lnSpc>
                <a:spcPct val="90000"/>
              </a:lnSpc>
              <a:spcBef>
                <a:spcPts val="1500"/>
              </a:spcBef>
            </a:pPr>
            <a:r>
              <a:rPr lang="en-IN" sz="2400" cap="all" dirty="0">
                <a:solidFill>
                  <a:schemeClr val="accent4"/>
                </a:solidFill>
                <a:latin typeface="+mj-lt"/>
              </a:rPr>
              <a:t>Patient Age Group analysis</a:t>
            </a:r>
          </a:p>
          <a:p>
            <a:pPr fontAlgn="base">
              <a:lnSpc>
                <a:spcPct val="90000"/>
              </a:lnSpc>
              <a:spcBef>
                <a:spcPts val="1500"/>
              </a:spcBef>
            </a:pPr>
            <a:r>
              <a:rPr lang="en-US" sz="2400" dirty="0">
                <a:latin typeface="Aptos Narrow" panose="020B0004020202020204" pitchFamily="34" charset="0"/>
              </a:rPr>
              <a:t>To better understand who our patients are and how they use our services, categorized them into five distinct age groups.</a:t>
            </a:r>
          </a:p>
          <a:p>
            <a:pPr fontAlgn="base">
              <a:lnSpc>
                <a:spcPct val="90000"/>
              </a:lnSpc>
              <a:spcBef>
                <a:spcPts val="1500"/>
              </a:spcBef>
            </a:pPr>
            <a:r>
              <a:rPr lang="en-US" sz="2400" dirty="0">
                <a:latin typeface="Aptos Narrow" panose="020B0004020202020204" pitchFamily="34" charset="0"/>
              </a:rPr>
              <a:t>This demographic segmentation helps us tailor our care and services more effectively</a:t>
            </a:r>
            <a:endParaRPr lang="en-IN" sz="2400" cap="all" dirty="0">
              <a:solidFill>
                <a:schemeClr val="accent4"/>
              </a:solidFill>
              <a:latin typeface="+mj-lt"/>
            </a:endParaRPr>
          </a:p>
          <a:p>
            <a:pPr marL="514350" indent="-514350">
              <a:buAutoNum type="arabicPeriod"/>
            </a:pPr>
            <a:r>
              <a:rPr lang="en-IN" dirty="0"/>
              <a:t>Child = less than or equal to 12 years</a:t>
            </a:r>
          </a:p>
          <a:p>
            <a:pPr marL="514350" indent="-514350">
              <a:buAutoNum type="arabicPeriod"/>
            </a:pPr>
            <a:r>
              <a:rPr lang="en-IN" dirty="0"/>
              <a:t>Teenager = between 12 and 21 years</a:t>
            </a:r>
          </a:p>
          <a:p>
            <a:pPr marL="514350" indent="-514350">
              <a:buAutoNum type="arabicPeriod"/>
            </a:pPr>
            <a:r>
              <a:rPr lang="en-IN" dirty="0"/>
              <a:t>Adult = between 21 and 40 years</a:t>
            </a:r>
          </a:p>
          <a:p>
            <a:pPr marL="514350" indent="-514350">
              <a:buAutoNum type="arabicPeriod"/>
            </a:pPr>
            <a:r>
              <a:rPr lang="en-IN" dirty="0"/>
              <a:t>Middle Aged = between 40 and 60 years</a:t>
            </a:r>
          </a:p>
          <a:p>
            <a:pPr marL="514350" indent="-514350">
              <a:buAutoNum type="arabicPeriod"/>
            </a:pPr>
            <a:r>
              <a:rPr lang="en-IN" dirty="0"/>
              <a:t>Senior Citizen = 60+ years </a:t>
            </a:r>
          </a:p>
          <a:p>
            <a:endParaRPr lang="en-IN" dirty="0"/>
          </a:p>
          <a:p>
            <a:r>
              <a:rPr lang="en-IN" dirty="0"/>
              <a:t>Hence divided the overall patients into five age categories to distinguish between the age group categories &amp; departments</a:t>
            </a:r>
          </a:p>
        </p:txBody>
      </p:sp>
      <p:sp>
        <p:nvSpPr>
          <p:cNvPr id="111" name="Title 110">
            <a:extLst>
              <a:ext uri="{FF2B5EF4-FFF2-40B4-BE49-F238E27FC236}">
                <a16:creationId xmlns:a16="http://schemas.microsoft.com/office/drawing/2014/main" id="{207C18F1-C571-3F4C-4171-E284E7714352}"/>
              </a:ext>
            </a:extLst>
          </p:cNvPr>
          <p:cNvSpPr>
            <a:spLocks noGrp="1"/>
          </p:cNvSpPr>
          <p:nvPr>
            <p:ph type="title"/>
          </p:nvPr>
        </p:nvSpPr>
        <p:spPr>
          <a:xfrm>
            <a:off x="4207835" y="928384"/>
            <a:ext cx="12822866" cy="998948"/>
          </a:xfrm>
        </p:spPr>
        <p:txBody>
          <a:bodyPr/>
          <a:lstStyle/>
          <a:p>
            <a:r>
              <a:rPr lang="en-IN" b="1" dirty="0">
                <a:solidFill>
                  <a:schemeClr val="accent6"/>
                </a:solidFill>
              </a:rPr>
              <a:t>Data Analysis &amp; Findings</a:t>
            </a:r>
            <a:endParaRPr lang="en-US" b="1" dirty="0">
              <a:solidFill>
                <a:schemeClr val="accent6"/>
              </a:solidFill>
            </a:endParaRPr>
          </a:p>
        </p:txBody>
      </p:sp>
      <p:sp>
        <p:nvSpPr>
          <p:cNvPr id="9" name="Text Placeholder 10">
            <a:extLst>
              <a:ext uri="{FF2B5EF4-FFF2-40B4-BE49-F238E27FC236}">
                <a16:creationId xmlns:a16="http://schemas.microsoft.com/office/drawing/2014/main" id="{5DCF64FC-C725-D0E2-83C5-A8DDA6D467AF}"/>
              </a:ext>
            </a:extLst>
          </p:cNvPr>
          <p:cNvSpPr txBox="1">
            <a:spLocks/>
          </p:cNvSpPr>
          <p:nvPr/>
        </p:nvSpPr>
        <p:spPr>
          <a:xfrm>
            <a:off x="251384" y="8152994"/>
            <a:ext cx="15068615" cy="1301091"/>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INSIGHTs</a:t>
            </a:r>
          </a:p>
          <a:p>
            <a:r>
              <a:rPr lang="en-US" sz="2400" cap="none" dirty="0">
                <a:solidFill>
                  <a:schemeClr val="tx1"/>
                </a:solidFill>
                <a:latin typeface="Cambria" panose="02040503050406030204" pitchFamily="18" charset="0"/>
                <a:ea typeface="Cambria" panose="02040503050406030204" pitchFamily="18" charset="0"/>
              </a:rPr>
              <a:t>Helps to conduct/plan age-specific programs &amp; services  considering the above age groups</a:t>
            </a:r>
          </a:p>
        </p:txBody>
      </p:sp>
      <p:pic>
        <p:nvPicPr>
          <p:cNvPr id="10" name="Picture 9">
            <a:extLst>
              <a:ext uri="{FF2B5EF4-FFF2-40B4-BE49-F238E27FC236}">
                <a16:creationId xmlns:a16="http://schemas.microsoft.com/office/drawing/2014/main" id="{B7E15332-2C7E-7DE6-7C14-31C0D41E4CF3}"/>
              </a:ext>
            </a:extLst>
          </p:cNvPr>
          <p:cNvPicPr>
            <a:picLocks noChangeAspect="1"/>
          </p:cNvPicPr>
          <p:nvPr/>
        </p:nvPicPr>
        <p:blipFill>
          <a:blip r:embed="rId2"/>
          <a:stretch>
            <a:fillRect/>
          </a:stretch>
        </p:blipFill>
        <p:spPr>
          <a:xfrm>
            <a:off x="11355572" y="2325724"/>
            <a:ext cx="6681045" cy="5540045"/>
          </a:xfrm>
          <a:prstGeom prst="rect">
            <a:avLst/>
          </a:prstGeom>
        </p:spPr>
      </p:pic>
    </p:spTree>
    <p:extLst>
      <p:ext uri="{BB962C8B-B14F-4D97-AF65-F5344CB8AC3E}">
        <p14:creationId xmlns:p14="http://schemas.microsoft.com/office/powerpoint/2010/main" val="3177049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C7075-CCFD-B9E5-0B72-E327ECBFE1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CBF18B-3EE1-E10C-A665-4379133A0047}"/>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8</a:t>
            </a:fld>
            <a:endParaRPr lang="en-US" dirty="0"/>
          </a:p>
        </p:txBody>
      </p:sp>
      <p:sp>
        <p:nvSpPr>
          <p:cNvPr id="37" name="Text Placeholder 36">
            <a:extLst>
              <a:ext uri="{FF2B5EF4-FFF2-40B4-BE49-F238E27FC236}">
                <a16:creationId xmlns:a16="http://schemas.microsoft.com/office/drawing/2014/main" id="{DD31D96E-0A3F-5488-E57B-7AE98BF318AA}"/>
              </a:ext>
            </a:extLst>
          </p:cNvPr>
          <p:cNvSpPr>
            <a:spLocks noGrp="1"/>
          </p:cNvSpPr>
          <p:nvPr>
            <p:ph type="body" sz="quarter" idx="13"/>
          </p:nvPr>
        </p:nvSpPr>
        <p:spPr>
          <a:xfrm>
            <a:off x="161720" y="2089223"/>
            <a:ext cx="10457547" cy="7269395"/>
          </a:xfrm>
        </p:spPr>
        <p:txBody>
          <a:bodyPr anchor="ctr"/>
          <a:lstStyle/>
          <a:p>
            <a:pPr fontAlgn="base">
              <a:lnSpc>
                <a:spcPct val="90000"/>
              </a:lnSpc>
              <a:spcBef>
                <a:spcPts val="1500"/>
              </a:spcBef>
            </a:pPr>
            <a:r>
              <a:rPr lang="en-IN" sz="2400" cap="all" dirty="0">
                <a:solidFill>
                  <a:schemeClr val="accent4"/>
                </a:solidFill>
                <a:latin typeface="+mj-lt"/>
              </a:rPr>
              <a:t>Monthly patient visits </a:t>
            </a:r>
          </a:p>
          <a:p>
            <a:pPr fontAlgn="base">
              <a:lnSpc>
                <a:spcPct val="90000"/>
              </a:lnSpc>
              <a:spcBef>
                <a:spcPts val="1500"/>
              </a:spcBef>
            </a:pPr>
            <a:endParaRPr lang="en-IN" sz="2400" cap="all" dirty="0">
              <a:solidFill>
                <a:schemeClr val="accent4"/>
              </a:solidFill>
              <a:latin typeface="+mj-lt"/>
            </a:endParaRPr>
          </a:p>
          <a:p>
            <a:pPr marL="428625" indent="-428625" eaLnBrk="0" fontAlgn="base" hangingPunct="0">
              <a:lnSpc>
                <a:spcPct val="100000"/>
              </a:lnSpc>
              <a:spcBef>
                <a:spcPct val="0"/>
              </a:spcBef>
              <a:spcAft>
                <a:spcPct val="0"/>
              </a:spcAft>
              <a:buFont typeface="Courier New" panose="02070309020205020404" pitchFamily="49" charset="0"/>
              <a:buChar char="o"/>
            </a:pPr>
            <a:r>
              <a:rPr lang="en-US" altLang="en-US" sz="2400" b="1" dirty="0">
                <a:latin typeface="Cambria" panose="02040503050406030204" pitchFamily="18" charset="0"/>
                <a:ea typeface="Cambria" panose="02040503050406030204" pitchFamily="18" charset="0"/>
              </a:rPr>
              <a:t>Total Patients Visited:</a:t>
            </a:r>
            <a:r>
              <a:rPr lang="en-US" altLang="en-US" sz="2400" dirty="0">
                <a:latin typeface="Cambria" panose="02040503050406030204" pitchFamily="18" charset="0"/>
                <a:ea typeface="Cambria" panose="02040503050406030204" pitchFamily="18" charset="0"/>
              </a:rPr>
              <a:t> 9,216</a:t>
            </a:r>
          </a:p>
          <a:p>
            <a:pPr marL="428625" indent="-428625" eaLnBrk="0" fontAlgn="base" hangingPunct="0">
              <a:lnSpc>
                <a:spcPct val="100000"/>
              </a:lnSpc>
              <a:spcBef>
                <a:spcPct val="0"/>
              </a:spcBef>
              <a:spcAft>
                <a:spcPct val="0"/>
              </a:spcAft>
              <a:buFont typeface="Courier New" panose="02070309020205020404" pitchFamily="49" charset="0"/>
              <a:buChar char="o"/>
            </a:pPr>
            <a:r>
              <a:rPr lang="en-US" altLang="en-US" sz="2400" b="1" dirty="0">
                <a:latin typeface="Cambria" panose="02040503050406030204" pitchFamily="18" charset="0"/>
                <a:ea typeface="Cambria" panose="02040503050406030204" pitchFamily="18" charset="0"/>
              </a:rPr>
              <a:t>Seasonal Patient Flow:</a:t>
            </a:r>
            <a:r>
              <a:rPr lang="en-US" altLang="en-US" sz="2400" dirty="0">
                <a:latin typeface="Cambria" panose="02040503050406030204" pitchFamily="18" charset="0"/>
                <a:ea typeface="Cambria" panose="02040503050406030204" pitchFamily="18" charset="0"/>
              </a:rPr>
              <a:t> Monthly visit trends highlight clear seasonal patterns, helping optimize staffing and resource allocation.</a:t>
            </a:r>
          </a:p>
          <a:p>
            <a:pPr marL="428625" indent="-428625" eaLnBrk="0" fontAlgn="base" hangingPunct="0">
              <a:lnSpc>
                <a:spcPct val="100000"/>
              </a:lnSpc>
              <a:spcBef>
                <a:spcPct val="0"/>
              </a:spcBef>
              <a:spcAft>
                <a:spcPct val="0"/>
              </a:spcAft>
              <a:buFont typeface="Courier New" panose="02070309020205020404" pitchFamily="49" charset="0"/>
              <a:buChar char="o"/>
            </a:pPr>
            <a:r>
              <a:rPr lang="en-US" altLang="en-US" sz="2400" b="1" dirty="0">
                <a:latin typeface="Cambria" panose="02040503050406030204" pitchFamily="18" charset="0"/>
                <a:ea typeface="Cambria" panose="02040503050406030204" pitchFamily="18" charset="0"/>
              </a:rPr>
              <a:t>Peak in August:</a:t>
            </a:r>
            <a:r>
              <a:rPr lang="en-US" altLang="en-US" sz="2400" dirty="0">
                <a:latin typeface="Cambria" panose="02040503050406030204" pitchFamily="18" charset="0"/>
                <a:ea typeface="Cambria" panose="02040503050406030204" pitchFamily="18" charset="0"/>
              </a:rPr>
              <a:t> Patient visits reach their highest in August, likely influenced by school holidays, weather conditions, or external factors.</a:t>
            </a:r>
          </a:p>
          <a:p>
            <a:pPr marL="428625" indent="-428625" eaLnBrk="0" fontAlgn="base" hangingPunct="0">
              <a:lnSpc>
                <a:spcPct val="100000"/>
              </a:lnSpc>
              <a:spcBef>
                <a:spcPct val="0"/>
              </a:spcBef>
              <a:spcAft>
                <a:spcPct val="0"/>
              </a:spcAft>
              <a:buFont typeface="Courier New" panose="02070309020205020404" pitchFamily="49" charset="0"/>
              <a:buChar char="o"/>
            </a:pPr>
            <a:r>
              <a:rPr lang="en-US" altLang="en-US" sz="2400" b="1" dirty="0">
                <a:latin typeface="Cambria" panose="02040503050406030204" pitchFamily="18" charset="0"/>
                <a:ea typeface="Cambria" panose="02040503050406030204" pitchFamily="18" charset="0"/>
              </a:rPr>
              <a:t>Low in February:</a:t>
            </a:r>
            <a:r>
              <a:rPr lang="en-US" altLang="en-US" sz="2400" dirty="0">
                <a:latin typeface="Cambria" panose="02040503050406030204" pitchFamily="18" charset="0"/>
                <a:ea typeface="Cambria" panose="02040503050406030204" pitchFamily="18" charset="0"/>
              </a:rPr>
              <a:t> February shows the lowest patient traffic, making it an ideal period for facility maintenance or staff training with minimal operational impact.</a:t>
            </a:r>
          </a:p>
          <a:p>
            <a:pPr marL="428625" indent="-428625" eaLnBrk="0" fontAlgn="base" hangingPunct="0">
              <a:lnSpc>
                <a:spcPct val="100000"/>
              </a:lnSpc>
              <a:spcBef>
                <a:spcPct val="0"/>
              </a:spcBef>
              <a:spcAft>
                <a:spcPct val="0"/>
              </a:spcAft>
              <a:buFont typeface="Courier New" panose="02070309020205020404" pitchFamily="49" charset="0"/>
              <a:buChar char="o"/>
            </a:pPr>
            <a:r>
              <a:rPr lang="en-US" altLang="en-US" sz="2400" b="1" dirty="0">
                <a:latin typeface="Cambria" panose="02040503050406030204" pitchFamily="18" charset="0"/>
                <a:ea typeface="Cambria" panose="02040503050406030204" pitchFamily="18" charset="0"/>
              </a:rPr>
              <a:t>Yearly Patterns:</a:t>
            </a:r>
            <a:r>
              <a:rPr lang="en-US" altLang="en-US" sz="2400" dirty="0">
                <a:latin typeface="Cambria" panose="02040503050406030204" pitchFamily="18" charset="0"/>
                <a:ea typeface="Cambria" panose="02040503050406030204" pitchFamily="18" charset="0"/>
              </a:rPr>
              <a:t> Patient visits remain strong from April to October, drop sharply in November, and stay relatively low during January–March and November–December, signaling periods of reduced demand.</a:t>
            </a:r>
          </a:p>
          <a:p>
            <a:pPr fontAlgn="base">
              <a:lnSpc>
                <a:spcPct val="90000"/>
              </a:lnSpc>
              <a:spcBef>
                <a:spcPts val="1500"/>
              </a:spcBef>
            </a:pPr>
            <a:endParaRPr lang="en-US" sz="2400" dirty="0">
              <a:latin typeface="Cambria" panose="02040503050406030204" pitchFamily="18" charset="0"/>
              <a:ea typeface="Cambria" panose="02040503050406030204" pitchFamily="18" charset="0"/>
            </a:endParaRPr>
          </a:p>
        </p:txBody>
      </p:sp>
      <p:sp>
        <p:nvSpPr>
          <p:cNvPr id="111" name="Title 110">
            <a:extLst>
              <a:ext uri="{FF2B5EF4-FFF2-40B4-BE49-F238E27FC236}">
                <a16:creationId xmlns:a16="http://schemas.microsoft.com/office/drawing/2014/main" id="{48773F64-6BD9-919C-92FC-3CD9408F62EC}"/>
              </a:ext>
            </a:extLst>
          </p:cNvPr>
          <p:cNvSpPr>
            <a:spLocks noGrp="1"/>
          </p:cNvSpPr>
          <p:nvPr>
            <p:ph type="title"/>
          </p:nvPr>
        </p:nvSpPr>
        <p:spPr>
          <a:xfrm>
            <a:off x="4207835" y="928384"/>
            <a:ext cx="12822866" cy="998948"/>
          </a:xfrm>
        </p:spPr>
        <p:txBody>
          <a:bodyPr/>
          <a:lstStyle/>
          <a:p>
            <a:r>
              <a:rPr lang="en-IN" b="1" dirty="0">
                <a:solidFill>
                  <a:schemeClr val="accent6"/>
                </a:solidFill>
              </a:rPr>
              <a:t>Data Analysis &amp; Findings</a:t>
            </a:r>
            <a:endParaRPr lang="en-US" b="1" dirty="0">
              <a:solidFill>
                <a:schemeClr val="accent6"/>
              </a:solidFill>
            </a:endParaRPr>
          </a:p>
        </p:txBody>
      </p:sp>
      <p:pic>
        <p:nvPicPr>
          <p:cNvPr id="3" name="Picture 2">
            <a:extLst>
              <a:ext uri="{FF2B5EF4-FFF2-40B4-BE49-F238E27FC236}">
                <a16:creationId xmlns:a16="http://schemas.microsoft.com/office/drawing/2014/main" id="{9469B18F-B08F-A7A9-D7D2-8B8A8E96E62F}"/>
              </a:ext>
            </a:extLst>
          </p:cNvPr>
          <p:cNvPicPr>
            <a:picLocks noChangeAspect="1"/>
          </p:cNvPicPr>
          <p:nvPr/>
        </p:nvPicPr>
        <p:blipFill>
          <a:blip r:embed="rId2"/>
          <a:stretch>
            <a:fillRect/>
          </a:stretch>
        </p:blipFill>
        <p:spPr>
          <a:xfrm>
            <a:off x="10417994" y="2482141"/>
            <a:ext cx="7740896" cy="4567079"/>
          </a:xfrm>
          <a:prstGeom prst="rect">
            <a:avLst/>
          </a:prstGeom>
        </p:spPr>
      </p:pic>
    </p:spTree>
    <p:extLst>
      <p:ext uri="{BB962C8B-B14F-4D97-AF65-F5344CB8AC3E}">
        <p14:creationId xmlns:p14="http://schemas.microsoft.com/office/powerpoint/2010/main" val="311040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B0BDB-09AA-DD31-4286-6C12651AC0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812980-64A9-1636-0CB4-F54953D22B4D}"/>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9</a:t>
            </a:fld>
            <a:endParaRPr lang="en-US" dirty="0"/>
          </a:p>
        </p:txBody>
      </p:sp>
      <p:sp>
        <p:nvSpPr>
          <p:cNvPr id="37" name="Text Placeholder 36">
            <a:extLst>
              <a:ext uri="{FF2B5EF4-FFF2-40B4-BE49-F238E27FC236}">
                <a16:creationId xmlns:a16="http://schemas.microsoft.com/office/drawing/2014/main" id="{5B4DE0E5-4FA5-4948-CA6C-9E3BD372255C}"/>
              </a:ext>
            </a:extLst>
          </p:cNvPr>
          <p:cNvSpPr>
            <a:spLocks noGrp="1"/>
          </p:cNvSpPr>
          <p:nvPr>
            <p:ph type="body" sz="quarter" idx="13"/>
          </p:nvPr>
        </p:nvSpPr>
        <p:spPr>
          <a:xfrm>
            <a:off x="145058" y="2351825"/>
            <a:ext cx="9934608" cy="5896176"/>
          </a:xfrm>
        </p:spPr>
        <p:txBody>
          <a:bodyPr anchor="ctr"/>
          <a:lstStyle/>
          <a:p>
            <a:pPr fontAlgn="base">
              <a:lnSpc>
                <a:spcPct val="90000"/>
              </a:lnSpc>
              <a:spcBef>
                <a:spcPts val="1500"/>
              </a:spcBef>
            </a:pPr>
            <a:r>
              <a:rPr lang="en-IN" sz="2400" cap="all" dirty="0">
                <a:solidFill>
                  <a:schemeClr val="accent4"/>
                </a:solidFill>
                <a:latin typeface="+mj-lt"/>
              </a:rPr>
              <a:t>Patient Wait Time analysis</a:t>
            </a:r>
          </a:p>
          <a:p>
            <a:pPr marL="514350" indent="-514350" fontAlgn="base">
              <a:lnSpc>
                <a:spcPct val="150000"/>
              </a:lnSpc>
              <a:buFont typeface="Courier New" panose="02070309020205020404" pitchFamily="49" charset="0"/>
              <a:buChar char="o"/>
            </a:pPr>
            <a:r>
              <a:rPr lang="en-US" sz="2400" dirty="0">
                <a:latin typeface="Cambria" panose="02040503050406030204" pitchFamily="18" charset="0"/>
                <a:ea typeface="Cambria" panose="02040503050406030204" pitchFamily="18" charset="0"/>
              </a:rPr>
              <a:t>Average Wait Time For </a:t>
            </a:r>
            <a:r>
              <a:rPr lang="en-IN" sz="2400" dirty="0">
                <a:latin typeface="Cambria" panose="02040503050406030204" pitchFamily="18" charset="0"/>
                <a:ea typeface="Cambria" panose="02040503050406030204" pitchFamily="18" charset="0"/>
              </a:rPr>
              <a:t>Patients</a:t>
            </a:r>
            <a:r>
              <a:rPr lang="en-US" sz="2400" dirty="0">
                <a:latin typeface="Cambria" panose="02040503050406030204" pitchFamily="18" charset="0"/>
                <a:ea typeface="Cambria" panose="02040503050406030204" pitchFamily="18" charset="0"/>
              </a:rPr>
              <a:t>: </a:t>
            </a:r>
            <a:r>
              <a:rPr lang="en-US" sz="2400" b="1" dirty="0">
                <a:latin typeface="Cambria" panose="02040503050406030204" pitchFamily="18" charset="0"/>
                <a:ea typeface="Cambria" panose="02040503050406030204" pitchFamily="18" charset="0"/>
              </a:rPr>
              <a:t>35.26 mins</a:t>
            </a:r>
            <a:r>
              <a:rPr lang="en-US" sz="2400" dirty="0">
                <a:latin typeface="Cambria" panose="02040503050406030204" pitchFamily="18" charset="0"/>
                <a:ea typeface="Cambria" panose="02040503050406030204" pitchFamily="18" charset="0"/>
              </a:rPr>
              <a:t> across hospital</a:t>
            </a:r>
          </a:p>
          <a:p>
            <a:pPr marL="514350" indent="-514350" fontAlgn="base">
              <a:lnSpc>
                <a:spcPct val="150000"/>
              </a:lnSpc>
              <a:buFont typeface="Courier New" panose="02070309020205020404" pitchFamily="49" charset="0"/>
              <a:buChar char="o"/>
            </a:pPr>
            <a:r>
              <a:rPr lang="en-US" sz="2400" dirty="0">
                <a:latin typeface="Cambria" panose="02040503050406030204" pitchFamily="18" charset="0"/>
                <a:ea typeface="Cambria" panose="02040503050406030204" pitchFamily="18" charset="0"/>
              </a:rPr>
              <a:t>Wait times range: </a:t>
            </a:r>
            <a:r>
              <a:rPr lang="en-US" sz="2400" b="1" dirty="0">
                <a:latin typeface="Cambria" panose="02040503050406030204" pitchFamily="18" charset="0"/>
                <a:ea typeface="Cambria" panose="02040503050406030204" pitchFamily="18" charset="0"/>
              </a:rPr>
              <a:t>34.70 – 36.80 mins</a:t>
            </a:r>
            <a:r>
              <a:rPr lang="en-US" sz="2400" dirty="0">
                <a:latin typeface="Cambria" panose="02040503050406030204" pitchFamily="18" charset="0"/>
                <a:ea typeface="Cambria" panose="02040503050406030204" pitchFamily="18" charset="0"/>
              </a:rPr>
              <a:t> across the departments</a:t>
            </a:r>
          </a:p>
          <a:p>
            <a:pPr marL="514350" indent="-514350" fontAlgn="base">
              <a:lnSpc>
                <a:spcPct val="150000"/>
              </a:lnSpc>
              <a:buFont typeface="Courier New" panose="02070309020205020404" pitchFamily="49" charset="0"/>
              <a:buChar char="o"/>
            </a:pPr>
            <a:r>
              <a:rPr lang="en-US" sz="2400" dirty="0">
                <a:latin typeface="Cambria" panose="02040503050406030204" pitchFamily="18" charset="0"/>
                <a:ea typeface="Cambria" panose="02040503050406030204" pitchFamily="18" charset="0"/>
              </a:rPr>
              <a:t>Neurology has highest avg wait (36.8 mins), though difference is minimal</a:t>
            </a:r>
          </a:p>
          <a:p>
            <a:pPr marL="514350" indent="-514350" fontAlgn="base">
              <a:lnSpc>
                <a:spcPct val="150000"/>
              </a:lnSpc>
              <a:buFont typeface="Courier New" panose="02070309020205020404" pitchFamily="49" charset="0"/>
              <a:buChar char="o"/>
            </a:pPr>
            <a:r>
              <a:rPr lang="en-US" sz="2400" dirty="0">
                <a:latin typeface="Cambria" panose="02040503050406030204" pitchFamily="18" charset="0"/>
                <a:ea typeface="Cambria" panose="02040503050406030204" pitchFamily="18" charset="0"/>
              </a:rPr>
              <a:t>No critical delays — indicates efficient and balanced resource allocation</a:t>
            </a:r>
          </a:p>
          <a:p>
            <a:pPr marL="514350" indent="-514350" fontAlgn="base">
              <a:lnSpc>
                <a:spcPct val="150000"/>
              </a:lnSpc>
              <a:buFont typeface="Courier New" panose="02070309020205020404" pitchFamily="49" charset="0"/>
              <a:buChar char="o"/>
            </a:pPr>
            <a:r>
              <a:rPr lang="en-US" sz="2400" dirty="0">
                <a:latin typeface="Cambria" panose="02040503050406030204" pitchFamily="18" charset="0"/>
                <a:ea typeface="Cambria" panose="02040503050406030204" pitchFamily="18" charset="0"/>
              </a:rPr>
              <a:t>Orthopedics &amp; General </a:t>
            </a:r>
            <a:r>
              <a:rPr lang="en-IN" sz="2400" dirty="0">
                <a:latin typeface="Cambria" panose="02040503050406030204" pitchFamily="18" charset="0"/>
                <a:ea typeface="Cambria" panose="02040503050406030204" pitchFamily="18" charset="0"/>
              </a:rPr>
              <a:t>Department has generated greater revenue compared to other departments indicating the key areas of hospital</a:t>
            </a:r>
          </a:p>
          <a:p>
            <a:pPr marL="514350" indent="-514350" fontAlgn="base">
              <a:lnSpc>
                <a:spcPct val="150000"/>
              </a:lnSpc>
              <a:buFont typeface="Courier New" panose="02070309020205020404" pitchFamily="49" charset="0"/>
              <a:buChar char="o"/>
            </a:pPr>
            <a:endParaRPr lang="en-IN" sz="2400" dirty="0">
              <a:latin typeface="Cambria" panose="02040503050406030204" pitchFamily="18" charset="0"/>
              <a:ea typeface="Cambria" panose="02040503050406030204" pitchFamily="18" charset="0"/>
            </a:endParaRPr>
          </a:p>
        </p:txBody>
      </p:sp>
      <p:sp>
        <p:nvSpPr>
          <p:cNvPr id="111" name="Title 110">
            <a:extLst>
              <a:ext uri="{FF2B5EF4-FFF2-40B4-BE49-F238E27FC236}">
                <a16:creationId xmlns:a16="http://schemas.microsoft.com/office/drawing/2014/main" id="{058D6F23-81CD-2093-D6EE-7538317606AF}"/>
              </a:ext>
            </a:extLst>
          </p:cNvPr>
          <p:cNvSpPr>
            <a:spLocks noGrp="1"/>
          </p:cNvSpPr>
          <p:nvPr>
            <p:ph type="title"/>
          </p:nvPr>
        </p:nvSpPr>
        <p:spPr>
          <a:xfrm>
            <a:off x="4207835" y="928384"/>
            <a:ext cx="12822866" cy="998948"/>
          </a:xfrm>
        </p:spPr>
        <p:txBody>
          <a:bodyPr/>
          <a:lstStyle/>
          <a:p>
            <a:r>
              <a:rPr lang="en-IN" dirty="0"/>
              <a:t>Data Analysis &amp; Findings</a:t>
            </a:r>
            <a:endParaRPr lang="en-US" dirty="0"/>
          </a:p>
        </p:txBody>
      </p:sp>
      <p:pic>
        <p:nvPicPr>
          <p:cNvPr id="8" name="Picture 7">
            <a:extLst>
              <a:ext uri="{FF2B5EF4-FFF2-40B4-BE49-F238E27FC236}">
                <a16:creationId xmlns:a16="http://schemas.microsoft.com/office/drawing/2014/main" id="{21DDF921-224C-1A20-0E22-E1EECDC845BA}"/>
              </a:ext>
            </a:extLst>
          </p:cNvPr>
          <p:cNvPicPr>
            <a:picLocks noChangeAspect="1"/>
          </p:cNvPicPr>
          <p:nvPr/>
        </p:nvPicPr>
        <p:blipFill>
          <a:blip r:embed="rId2"/>
          <a:stretch>
            <a:fillRect/>
          </a:stretch>
        </p:blipFill>
        <p:spPr>
          <a:xfrm>
            <a:off x="9896694" y="2501783"/>
            <a:ext cx="8237196" cy="6220977"/>
          </a:xfrm>
          <a:prstGeom prst="rect">
            <a:avLst/>
          </a:prstGeom>
        </p:spPr>
      </p:pic>
      <p:sp>
        <p:nvSpPr>
          <p:cNvPr id="9" name="Text Placeholder 10">
            <a:extLst>
              <a:ext uri="{FF2B5EF4-FFF2-40B4-BE49-F238E27FC236}">
                <a16:creationId xmlns:a16="http://schemas.microsoft.com/office/drawing/2014/main" id="{072271A4-5D2A-6683-633A-E7A2DF944CC5}"/>
              </a:ext>
            </a:extLst>
          </p:cNvPr>
          <p:cNvSpPr txBox="1">
            <a:spLocks/>
          </p:cNvSpPr>
          <p:nvPr/>
        </p:nvSpPr>
        <p:spPr>
          <a:xfrm>
            <a:off x="369860" y="8248001"/>
            <a:ext cx="15068615" cy="2000388"/>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INSIGHTs</a:t>
            </a:r>
          </a:p>
          <a:p>
            <a:r>
              <a:rPr lang="en-US" sz="2400" cap="none" dirty="0">
                <a:solidFill>
                  <a:schemeClr val="tx1"/>
                </a:solidFill>
                <a:latin typeface="Cambria" panose="02040503050406030204" pitchFamily="18" charset="0"/>
                <a:ea typeface="Cambria" panose="02040503050406030204" pitchFamily="18" charset="0"/>
              </a:rPr>
              <a:t>High-revenue departments present strong opportunities for targeted investments. By expanding their services and resources, the hospital can drive further growth and attract more patients.</a:t>
            </a:r>
          </a:p>
          <a:p>
            <a:endParaRPr lang="en-US" sz="2400" dirty="0"/>
          </a:p>
        </p:txBody>
      </p:sp>
    </p:spTree>
    <p:extLst>
      <p:ext uri="{BB962C8B-B14F-4D97-AF65-F5344CB8AC3E}">
        <p14:creationId xmlns:p14="http://schemas.microsoft.com/office/powerpoint/2010/main" val="585161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5AFE8-D5AB-3644-1124-7928110B47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6B51C0-D83A-C337-28FB-F329F8E58577}"/>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10</a:t>
            </a:fld>
            <a:endParaRPr lang="en-US" dirty="0"/>
          </a:p>
        </p:txBody>
      </p:sp>
      <p:sp>
        <p:nvSpPr>
          <p:cNvPr id="37" name="Text Placeholder 36">
            <a:extLst>
              <a:ext uri="{FF2B5EF4-FFF2-40B4-BE49-F238E27FC236}">
                <a16:creationId xmlns:a16="http://schemas.microsoft.com/office/drawing/2014/main" id="{AD375F63-33F6-3B36-852B-B1284025A22D}"/>
              </a:ext>
            </a:extLst>
          </p:cNvPr>
          <p:cNvSpPr>
            <a:spLocks noGrp="1"/>
          </p:cNvSpPr>
          <p:nvPr>
            <p:ph type="body" sz="quarter" idx="13"/>
          </p:nvPr>
        </p:nvSpPr>
        <p:spPr>
          <a:xfrm>
            <a:off x="129110" y="2711302"/>
            <a:ext cx="10460919" cy="3601301"/>
          </a:xfrm>
        </p:spPr>
        <p:txBody>
          <a:bodyPr anchor="ctr"/>
          <a:lstStyle/>
          <a:p>
            <a:pPr fontAlgn="base">
              <a:lnSpc>
                <a:spcPct val="90000"/>
              </a:lnSpc>
              <a:spcBef>
                <a:spcPts val="1500"/>
              </a:spcBef>
            </a:pPr>
            <a:r>
              <a:rPr lang="en-IN" sz="2400" cap="all" dirty="0">
                <a:solidFill>
                  <a:schemeClr val="accent4"/>
                </a:solidFill>
                <a:latin typeface="+mj-lt"/>
              </a:rPr>
              <a:t>Department wise Patient  count</a:t>
            </a:r>
          </a:p>
          <a:p>
            <a:pPr marL="428625" indent="-428625">
              <a:buFont typeface="Arial" panose="020B0604020202020204" pitchFamily="34" charset="0"/>
              <a:buChar char="•"/>
            </a:pPr>
            <a:r>
              <a:rPr lang="en-US" sz="2400" dirty="0">
                <a:latin typeface="Cambria" panose="02040503050406030204" pitchFamily="18" charset="0"/>
                <a:ea typeface="Cambria" panose="02040503050406030204" pitchFamily="18" charset="0"/>
              </a:rPr>
              <a:t>General Practice and Orthopedics had the highest patient volume, indicating these departments are essential for patient care and could benefit from increased staffing.</a:t>
            </a:r>
          </a:p>
          <a:p>
            <a:pPr marL="428625" indent="-428625">
              <a:buFont typeface="Arial" panose="020B0604020202020204" pitchFamily="34" charset="0"/>
              <a:buChar char="•"/>
            </a:pPr>
            <a:r>
              <a:rPr lang="en-US" sz="2400" dirty="0">
                <a:latin typeface="Cambria" panose="02040503050406030204" pitchFamily="18" charset="0"/>
                <a:ea typeface="Cambria" panose="02040503050406030204" pitchFamily="18" charset="0"/>
              </a:rPr>
              <a:t>Renal has recorded least number of patients in overall which can help the hospital to </a:t>
            </a:r>
            <a:r>
              <a:rPr lang="en-IN" sz="2400" dirty="0">
                <a:latin typeface="Cambria" panose="02040503050406030204" pitchFamily="18" charset="0"/>
                <a:ea typeface="Cambria" panose="02040503050406030204" pitchFamily="18" charset="0"/>
              </a:rPr>
              <a:t>understand the department importance while increasing the staff </a:t>
            </a:r>
            <a:endParaRPr lang="en-US" sz="2400" dirty="0">
              <a:latin typeface="Cambria" panose="02040503050406030204" pitchFamily="18" charset="0"/>
              <a:ea typeface="Cambria" panose="02040503050406030204" pitchFamily="18" charset="0"/>
            </a:endParaRPr>
          </a:p>
        </p:txBody>
      </p:sp>
      <p:sp>
        <p:nvSpPr>
          <p:cNvPr id="111" name="Title 110">
            <a:extLst>
              <a:ext uri="{FF2B5EF4-FFF2-40B4-BE49-F238E27FC236}">
                <a16:creationId xmlns:a16="http://schemas.microsoft.com/office/drawing/2014/main" id="{65A7903A-F60C-FC4E-408C-26305E6D24A1}"/>
              </a:ext>
            </a:extLst>
          </p:cNvPr>
          <p:cNvSpPr>
            <a:spLocks noGrp="1"/>
          </p:cNvSpPr>
          <p:nvPr>
            <p:ph type="title"/>
          </p:nvPr>
        </p:nvSpPr>
        <p:spPr>
          <a:xfrm>
            <a:off x="4207835" y="928384"/>
            <a:ext cx="12822866" cy="998948"/>
          </a:xfrm>
        </p:spPr>
        <p:txBody>
          <a:bodyPr/>
          <a:lstStyle/>
          <a:p>
            <a:r>
              <a:rPr lang="en-IN" dirty="0"/>
              <a:t>Data Analysis &amp; Findings</a:t>
            </a:r>
            <a:endParaRPr lang="en-US" dirty="0"/>
          </a:p>
        </p:txBody>
      </p:sp>
      <p:sp>
        <p:nvSpPr>
          <p:cNvPr id="9" name="Text Placeholder 10">
            <a:extLst>
              <a:ext uri="{FF2B5EF4-FFF2-40B4-BE49-F238E27FC236}">
                <a16:creationId xmlns:a16="http://schemas.microsoft.com/office/drawing/2014/main" id="{43B3B1E0-50EC-DBB6-2569-C16701063F1F}"/>
              </a:ext>
            </a:extLst>
          </p:cNvPr>
          <p:cNvSpPr txBox="1">
            <a:spLocks/>
          </p:cNvSpPr>
          <p:nvPr/>
        </p:nvSpPr>
        <p:spPr>
          <a:xfrm>
            <a:off x="296107" y="6505930"/>
            <a:ext cx="10293923" cy="2852687"/>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INSIGHTs</a:t>
            </a:r>
          </a:p>
          <a:p>
            <a:pPr marL="428625" indent="-428625">
              <a:buFont typeface="Courier New" panose="02070309020205020404" pitchFamily="49" charset="0"/>
              <a:buChar char="o"/>
            </a:pPr>
            <a:r>
              <a:rPr lang="en-US" sz="2400" cap="none" dirty="0">
                <a:solidFill>
                  <a:schemeClr val="tx1"/>
                </a:solidFill>
                <a:latin typeface="Cambria" panose="02040503050406030204" pitchFamily="18" charset="0"/>
                <a:ea typeface="Cambria" panose="02040503050406030204" pitchFamily="18" charset="0"/>
              </a:rPr>
              <a:t>The departments which recorded by greater number of patients present strong opportunities for targeted investments. </a:t>
            </a:r>
          </a:p>
          <a:p>
            <a:pPr marL="428625" indent="-428625">
              <a:buFont typeface="Courier New" panose="02070309020205020404" pitchFamily="49" charset="0"/>
              <a:buChar char="o"/>
            </a:pPr>
            <a:r>
              <a:rPr lang="en-US" sz="2400" cap="none" dirty="0">
                <a:solidFill>
                  <a:schemeClr val="tx1"/>
                </a:solidFill>
                <a:latin typeface="Cambria" panose="02040503050406030204" pitchFamily="18" charset="0"/>
                <a:ea typeface="Cambria" panose="02040503050406030204" pitchFamily="18" charset="0"/>
              </a:rPr>
              <a:t>Prioritizing these departments for staffing and resource allocation could help manage demand and improve patient flow. </a:t>
            </a:r>
          </a:p>
        </p:txBody>
      </p:sp>
      <p:pic>
        <p:nvPicPr>
          <p:cNvPr id="3" name="Picture 2">
            <a:extLst>
              <a:ext uri="{FF2B5EF4-FFF2-40B4-BE49-F238E27FC236}">
                <a16:creationId xmlns:a16="http://schemas.microsoft.com/office/drawing/2014/main" id="{A10AC74F-CEDD-E96B-7C15-8DFBC1E8A36F}"/>
              </a:ext>
            </a:extLst>
          </p:cNvPr>
          <p:cNvPicPr>
            <a:picLocks noChangeAspect="1"/>
          </p:cNvPicPr>
          <p:nvPr/>
        </p:nvPicPr>
        <p:blipFill>
          <a:blip r:embed="rId2"/>
          <a:stretch>
            <a:fillRect/>
          </a:stretch>
        </p:blipFill>
        <p:spPr>
          <a:xfrm>
            <a:off x="10798641" y="2351825"/>
            <a:ext cx="7193253" cy="5730000"/>
          </a:xfrm>
          <a:prstGeom prst="rect">
            <a:avLst/>
          </a:prstGeom>
        </p:spPr>
      </p:pic>
    </p:spTree>
    <p:extLst>
      <p:ext uri="{BB962C8B-B14F-4D97-AF65-F5344CB8AC3E}">
        <p14:creationId xmlns:p14="http://schemas.microsoft.com/office/powerpoint/2010/main" val="3713645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4E9C-6E37-69B2-9C58-4DFE1F6D76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FB866B-5E99-35DC-E456-255F0649E43B}"/>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11</a:t>
            </a:fld>
            <a:endParaRPr lang="en-US" dirty="0"/>
          </a:p>
        </p:txBody>
      </p:sp>
      <p:sp>
        <p:nvSpPr>
          <p:cNvPr id="37" name="Text Placeholder 36">
            <a:extLst>
              <a:ext uri="{FF2B5EF4-FFF2-40B4-BE49-F238E27FC236}">
                <a16:creationId xmlns:a16="http://schemas.microsoft.com/office/drawing/2014/main" id="{53F702BD-CC38-78B1-4535-49666B586A0B}"/>
              </a:ext>
            </a:extLst>
          </p:cNvPr>
          <p:cNvSpPr>
            <a:spLocks noGrp="1"/>
          </p:cNvSpPr>
          <p:nvPr>
            <p:ph type="body" sz="quarter" idx="13"/>
          </p:nvPr>
        </p:nvSpPr>
        <p:spPr>
          <a:xfrm>
            <a:off x="129110" y="2711302"/>
            <a:ext cx="10103951" cy="4655270"/>
          </a:xfrm>
        </p:spPr>
        <p:txBody>
          <a:bodyPr anchor="ctr"/>
          <a:lstStyle/>
          <a:p>
            <a:pPr fontAlgn="base">
              <a:lnSpc>
                <a:spcPct val="90000"/>
              </a:lnSpc>
              <a:spcBef>
                <a:spcPts val="1500"/>
              </a:spcBef>
            </a:pPr>
            <a:r>
              <a:rPr lang="en-IN" sz="2400" cap="all" dirty="0">
                <a:solidFill>
                  <a:schemeClr val="accent4"/>
                </a:solidFill>
                <a:latin typeface="+mj-lt"/>
              </a:rPr>
              <a:t>Wait time Impact on Satisfaction Score</a:t>
            </a:r>
          </a:p>
          <a:p>
            <a:pPr marL="428625" indent="-428625">
              <a:buFont typeface="Courier New" panose="02070309020205020404" pitchFamily="49" charset="0"/>
              <a:buChar char="o"/>
            </a:pPr>
            <a:r>
              <a:rPr lang="en-US" sz="2400" dirty="0">
                <a:latin typeface="Cambria" panose="02040503050406030204" pitchFamily="18" charset="0"/>
                <a:ea typeface="Cambria" panose="02040503050406030204" pitchFamily="18" charset="0"/>
              </a:rPr>
              <a:t>The chart shows the relationship between patient wait time and the sum of patient satisfaction scores which is having negative </a:t>
            </a:r>
            <a:r>
              <a:rPr lang="en-IN" sz="2400" dirty="0">
                <a:latin typeface="Cambria" panose="02040503050406030204" pitchFamily="18" charset="0"/>
                <a:ea typeface="Cambria" panose="02040503050406030204" pitchFamily="18" charset="0"/>
              </a:rPr>
              <a:t>correlation</a:t>
            </a:r>
            <a:r>
              <a:rPr lang="en-US" sz="2400" dirty="0">
                <a:latin typeface="Cambria" panose="02040503050406030204" pitchFamily="18" charset="0"/>
                <a:ea typeface="Cambria" panose="02040503050406030204" pitchFamily="18" charset="0"/>
              </a:rPr>
              <a:t>. As wait times increase, satisfaction scores generally trend downward, though there are fluctuations. This suggests that longer wait times negatively impact patient satisfaction, highlighting the need for better scheduling and resource management to improve patient experience.</a:t>
            </a:r>
          </a:p>
          <a:p>
            <a:pPr marL="428625" indent="-428625">
              <a:buFont typeface="Courier New" panose="02070309020205020404" pitchFamily="49" charset="0"/>
              <a:buChar char="o"/>
            </a:pPr>
            <a:r>
              <a:rPr lang="en-GB" sz="2400" dirty="0">
                <a:latin typeface="Cambria" panose="02040503050406030204" pitchFamily="18" charset="0"/>
                <a:ea typeface="Cambria" panose="02040503050406030204" pitchFamily="18" charset="0"/>
              </a:rPr>
              <a:t>The </a:t>
            </a:r>
            <a:r>
              <a:rPr lang="en-IN" sz="2400" dirty="0">
                <a:latin typeface="Cambria" panose="02040503050406030204" pitchFamily="18" charset="0"/>
                <a:ea typeface="Cambria" panose="02040503050406030204" pitchFamily="18" charset="0"/>
              </a:rPr>
              <a:t>Interpretation of Correlation = 0.51</a:t>
            </a:r>
          </a:p>
          <a:p>
            <a:pPr marL="428625" indent="-428625">
              <a:buFont typeface="Courier New" panose="02070309020205020404" pitchFamily="49" charset="0"/>
              <a:buChar char="o"/>
            </a:pPr>
            <a:endParaRPr lang="en-US" sz="2400" dirty="0">
              <a:latin typeface="Cambria" panose="02040503050406030204" pitchFamily="18" charset="0"/>
              <a:ea typeface="Cambria" panose="02040503050406030204" pitchFamily="18" charset="0"/>
            </a:endParaRPr>
          </a:p>
        </p:txBody>
      </p:sp>
      <p:sp>
        <p:nvSpPr>
          <p:cNvPr id="111" name="Title 110">
            <a:extLst>
              <a:ext uri="{FF2B5EF4-FFF2-40B4-BE49-F238E27FC236}">
                <a16:creationId xmlns:a16="http://schemas.microsoft.com/office/drawing/2014/main" id="{BCC875BC-6C68-85F8-1634-DB16A1A330B7}"/>
              </a:ext>
            </a:extLst>
          </p:cNvPr>
          <p:cNvSpPr>
            <a:spLocks noGrp="1"/>
          </p:cNvSpPr>
          <p:nvPr>
            <p:ph type="title"/>
          </p:nvPr>
        </p:nvSpPr>
        <p:spPr>
          <a:xfrm>
            <a:off x="4207835" y="928384"/>
            <a:ext cx="12822866" cy="998948"/>
          </a:xfrm>
        </p:spPr>
        <p:txBody>
          <a:bodyPr/>
          <a:lstStyle/>
          <a:p>
            <a:r>
              <a:rPr lang="en-IN" dirty="0"/>
              <a:t>Data Analysis &amp; Findings</a:t>
            </a:r>
            <a:endParaRPr lang="en-US" dirty="0"/>
          </a:p>
        </p:txBody>
      </p:sp>
      <p:sp>
        <p:nvSpPr>
          <p:cNvPr id="9" name="Text Placeholder 10">
            <a:extLst>
              <a:ext uri="{FF2B5EF4-FFF2-40B4-BE49-F238E27FC236}">
                <a16:creationId xmlns:a16="http://schemas.microsoft.com/office/drawing/2014/main" id="{22068BC7-2DF6-0B42-8E15-E24F1C5EA7E2}"/>
              </a:ext>
            </a:extLst>
          </p:cNvPr>
          <p:cNvSpPr txBox="1">
            <a:spLocks/>
          </p:cNvSpPr>
          <p:nvPr/>
        </p:nvSpPr>
        <p:spPr>
          <a:xfrm>
            <a:off x="296105" y="7366571"/>
            <a:ext cx="17442227" cy="1992047"/>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INSIGHTs</a:t>
            </a:r>
          </a:p>
          <a:p>
            <a:pPr marL="428625" indent="-428625">
              <a:buFont typeface="Courier New" panose="02070309020205020404" pitchFamily="49" charset="0"/>
              <a:buChar char="o"/>
            </a:pPr>
            <a:r>
              <a:rPr lang="en-US" sz="2400" cap="none" dirty="0">
                <a:solidFill>
                  <a:schemeClr val="tx1"/>
                </a:solidFill>
                <a:latin typeface="Cambria" panose="02040503050406030204" pitchFamily="18" charset="0"/>
                <a:ea typeface="Cambria" panose="02040503050406030204" pitchFamily="18" charset="0"/>
              </a:rPr>
              <a:t>Efforts to reduce wait times, especially in high-demand departments, could significantly improve patient satisfaction. Additionally, implementing efficient scheduling or queue management systems could help reduce congestion during peak hours.</a:t>
            </a:r>
          </a:p>
        </p:txBody>
      </p:sp>
      <p:pic>
        <p:nvPicPr>
          <p:cNvPr id="5" name="Picture 4">
            <a:extLst>
              <a:ext uri="{FF2B5EF4-FFF2-40B4-BE49-F238E27FC236}">
                <a16:creationId xmlns:a16="http://schemas.microsoft.com/office/drawing/2014/main" id="{9B06FDF9-DCA8-6FD7-58BA-0D62E2059E2A}"/>
              </a:ext>
            </a:extLst>
          </p:cNvPr>
          <p:cNvPicPr>
            <a:picLocks noChangeAspect="1"/>
          </p:cNvPicPr>
          <p:nvPr/>
        </p:nvPicPr>
        <p:blipFill>
          <a:blip r:embed="rId2"/>
          <a:stretch>
            <a:fillRect/>
          </a:stretch>
        </p:blipFill>
        <p:spPr>
          <a:xfrm>
            <a:off x="10848201" y="2183661"/>
            <a:ext cx="7394511" cy="5753127"/>
          </a:xfrm>
          <a:prstGeom prst="rect">
            <a:avLst/>
          </a:prstGeom>
        </p:spPr>
      </p:pic>
    </p:spTree>
    <p:extLst>
      <p:ext uri="{BB962C8B-B14F-4D97-AF65-F5344CB8AC3E}">
        <p14:creationId xmlns:p14="http://schemas.microsoft.com/office/powerpoint/2010/main" val="3446933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7ACB-89AD-425A-4693-3AB0A2E2AC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3E3679-8BF0-A237-814C-B102EB1E8FF3}"/>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12</a:t>
            </a:fld>
            <a:endParaRPr lang="en-US" dirty="0"/>
          </a:p>
        </p:txBody>
      </p:sp>
      <p:sp>
        <p:nvSpPr>
          <p:cNvPr id="37" name="Text Placeholder 36">
            <a:extLst>
              <a:ext uri="{FF2B5EF4-FFF2-40B4-BE49-F238E27FC236}">
                <a16:creationId xmlns:a16="http://schemas.microsoft.com/office/drawing/2014/main" id="{9C3DCCB3-283D-D85F-8894-33F905C4617F}"/>
              </a:ext>
            </a:extLst>
          </p:cNvPr>
          <p:cNvSpPr>
            <a:spLocks noGrp="1"/>
          </p:cNvSpPr>
          <p:nvPr>
            <p:ph type="body" sz="quarter" idx="13"/>
          </p:nvPr>
        </p:nvSpPr>
        <p:spPr>
          <a:xfrm>
            <a:off x="129110" y="2711302"/>
            <a:ext cx="10719092" cy="3601301"/>
          </a:xfrm>
        </p:spPr>
        <p:txBody>
          <a:bodyPr anchor="ctr"/>
          <a:lstStyle/>
          <a:p>
            <a:pPr fontAlgn="base">
              <a:lnSpc>
                <a:spcPct val="90000"/>
              </a:lnSpc>
              <a:spcBef>
                <a:spcPts val="1500"/>
              </a:spcBef>
            </a:pPr>
            <a:r>
              <a:rPr lang="en-IN" sz="2400" cap="all" dirty="0">
                <a:solidFill>
                  <a:schemeClr val="accent4"/>
                </a:solidFill>
                <a:latin typeface="+mj-lt"/>
              </a:rPr>
              <a:t>Discount Eligibility for the patients based on their spend</a:t>
            </a:r>
          </a:p>
          <a:p>
            <a:pPr marL="428625" indent="-428625">
              <a:buFont typeface="Courier New" panose="02070309020205020404" pitchFamily="49" charset="0"/>
              <a:buChar char="o"/>
            </a:pPr>
            <a:r>
              <a:rPr lang="en-US" sz="2400" dirty="0">
                <a:latin typeface="Cambria" panose="02040503050406030204" pitchFamily="18" charset="0"/>
                <a:ea typeface="Cambria" panose="02040503050406030204" pitchFamily="18" charset="0"/>
              </a:rPr>
              <a:t>Analyze the relationship between discount levels and patient satisfaction to assess the effectiveness of discounts on patient experience.</a:t>
            </a:r>
          </a:p>
          <a:p>
            <a:pPr marL="428625" indent="-428625">
              <a:buFont typeface="Courier New" panose="02070309020205020404" pitchFamily="49" charset="0"/>
              <a:buChar char="o"/>
            </a:pPr>
            <a:r>
              <a:rPr lang="en-IN" sz="2400" b="1" dirty="0">
                <a:latin typeface="Cambria" panose="02040503050406030204" pitchFamily="18" charset="0"/>
                <a:ea typeface="Cambria" panose="02040503050406030204" pitchFamily="18" charset="0"/>
              </a:rPr>
              <a:t>Normal Discount:</a:t>
            </a:r>
            <a:r>
              <a:rPr lang="en-IN" sz="2400" dirty="0">
                <a:latin typeface="Cambria" panose="02040503050406030204" pitchFamily="18" charset="0"/>
                <a:ea typeface="Cambria" panose="02040503050406030204" pitchFamily="18" charset="0"/>
              </a:rPr>
              <a:t> Set at 20% of the average spend (~15K). This creates a reasonable entry point for patients to qualify.</a:t>
            </a:r>
          </a:p>
          <a:p>
            <a:pPr marL="428625" indent="-428625">
              <a:buFont typeface="Courier New" panose="02070309020205020404" pitchFamily="49" charset="0"/>
              <a:buChar char="o"/>
            </a:pPr>
            <a:r>
              <a:rPr lang="en-IN" sz="2400" b="1" dirty="0">
                <a:latin typeface="Cambria" panose="02040503050406030204" pitchFamily="18" charset="0"/>
                <a:ea typeface="Cambria" panose="02040503050406030204" pitchFamily="18" charset="0"/>
              </a:rPr>
              <a:t>High Discount:</a:t>
            </a:r>
            <a:r>
              <a:rPr lang="en-IN" sz="2400" dirty="0">
                <a:latin typeface="Cambria" panose="02040503050406030204" pitchFamily="18" charset="0"/>
                <a:ea typeface="Cambria" panose="02040503050406030204" pitchFamily="18" charset="0"/>
              </a:rPr>
              <a:t> Set at 90% of the average spend (~50K). This ensures only significantly high spenders qualify</a:t>
            </a:r>
            <a:endParaRPr lang="en-US" sz="2400" dirty="0">
              <a:latin typeface="Cambria" panose="02040503050406030204" pitchFamily="18" charset="0"/>
              <a:ea typeface="Cambria" panose="02040503050406030204" pitchFamily="18" charset="0"/>
            </a:endParaRPr>
          </a:p>
        </p:txBody>
      </p:sp>
      <p:sp>
        <p:nvSpPr>
          <p:cNvPr id="111" name="Title 110">
            <a:extLst>
              <a:ext uri="{FF2B5EF4-FFF2-40B4-BE49-F238E27FC236}">
                <a16:creationId xmlns:a16="http://schemas.microsoft.com/office/drawing/2014/main" id="{563F0654-7F57-12AF-3284-2C7250D68925}"/>
              </a:ext>
            </a:extLst>
          </p:cNvPr>
          <p:cNvSpPr>
            <a:spLocks noGrp="1"/>
          </p:cNvSpPr>
          <p:nvPr>
            <p:ph type="title"/>
          </p:nvPr>
        </p:nvSpPr>
        <p:spPr>
          <a:xfrm>
            <a:off x="4207835" y="928384"/>
            <a:ext cx="12822866" cy="998948"/>
          </a:xfrm>
        </p:spPr>
        <p:txBody>
          <a:bodyPr/>
          <a:lstStyle/>
          <a:p>
            <a:r>
              <a:rPr lang="en-IN" dirty="0"/>
              <a:t>Data Analysis &amp; Findings</a:t>
            </a:r>
            <a:endParaRPr lang="en-US" dirty="0"/>
          </a:p>
        </p:txBody>
      </p:sp>
      <p:sp>
        <p:nvSpPr>
          <p:cNvPr id="9" name="Text Placeholder 10">
            <a:extLst>
              <a:ext uri="{FF2B5EF4-FFF2-40B4-BE49-F238E27FC236}">
                <a16:creationId xmlns:a16="http://schemas.microsoft.com/office/drawing/2014/main" id="{E5263FD4-BD6E-BE1B-CF08-CC561F0D034E}"/>
              </a:ext>
            </a:extLst>
          </p:cNvPr>
          <p:cNvSpPr txBox="1">
            <a:spLocks/>
          </p:cNvSpPr>
          <p:nvPr/>
        </p:nvSpPr>
        <p:spPr>
          <a:xfrm>
            <a:off x="296105" y="6505931"/>
            <a:ext cx="17442227" cy="2852687"/>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INSIGHTs</a:t>
            </a:r>
          </a:p>
          <a:p>
            <a:pPr marL="428625" indent="-428625">
              <a:buFont typeface="Courier New" panose="02070309020205020404" pitchFamily="49" charset="0"/>
              <a:buChar char="o"/>
            </a:pPr>
            <a:r>
              <a:rPr lang="en-IN" sz="2400" cap="none" dirty="0">
                <a:solidFill>
                  <a:schemeClr val="tx1"/>
                </a:solidFill>
                <a:latin typeface="Cambria" panose="02040503050406030204" pitchFamily="18" charset="0"/>
                <a:ea typeface="Cambria" panose="02040503050406030204" pitchFamily="18" charset="0"/>
              </a:rPr>
              <a:t>Around 22% of patients qualify for the High Discount, as their total bill exceeds 35K.</a:t>
            </a:r>
          </a:p>
          <a:p>
            <a:pPr marL="428625" indent="-428625">
              <a:buFont typeface="Courier New" panose="02070309020205020404" pitchFamily="49" charset="0"/>
              <a:buChar char="o"/>
            </a:pPr>
            <a:r>
              <a:rPr lang="en-IN" sz="2400" cap="none" dirty="0">
                <a:solidFill>
                  <a:schemeClr val="tx1"/>
                </a:solidFill>
                <a:latin typeface="Cambria" panose="02040503050406030204" pitchFamily="18" charset="0"/>
                <a:ea typeface="Cambria" panose="02040503050406030204" pitchFamily="18" charset="0"/>
              </a:rPr>
              <a:t>About 45% of patients fall into the Normal Discount category, with total bills between 15K and 35K.</a:t>
            </a:r>
          </a:p>
        </p:txBody>
      </p:sp>
      <p:pic>
        <p:nvPicPr>
          <p:cNvPr id="6" name="Picture 5">
            <a:extLst>
              <a:ext uri="{FF2B5EF4-FFF2-40B4-BE49-F238E27FC236}">
                <a16:creationId xmlns:a16="http://schemas.microsoft.com/office/drawing/2014/main" id="{D0AFE976-10C7-5015-2776-F64E6882ACBE}"/>
              </a:ext>
            </a:extLst>
          </p:cNvPr>
          <p:cNvPicPr>
            <a:picLocks noChangeAspect="1"/>
          </p:cNvPicPr>
          <p:nvPr/>
        </p:nvPicPr>
        <p:blipFill>
          <a:blip r:embed="rId2"/>
          <a:stretch>
            <a:fillRect/>
          </a:stretch>
        </p:blipFill>
        <p:spPr>
          <a:xfrm>
            <a:off x="10433407" y="2342343"/>
            <a:ext cx="7558490" cy="5159883"/>
          </a:xfrm>
          <a:prstGeom prst="rect">
            <a:avLst/>
          </a:prstGeom>
        </p:spPr>
      </p:pic>
    </p:spTree>
    <p:extLst>
      <p:ext uri="{BB962C8B-B14F-4D97-AF65-F5344CB8AC3E}">
        <p14:creationId xmlns:p14="http://schemas.microsoft.com/office/powerpoint/2010/main" val="2471185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08AB-9943-4DD2-8635-24E327A34F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FD7EBF-D1FF-5C50-B57C-E5071A1A4D1A}"/>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13</a:t>
            </a:fld>
            <a:endParaRPr lang="en-US" dirty="0"/>
          </a:p>
        </p:txBody>
      </p:sp>
      <p:sp>
        <p:nvSpPr>
          <p:cNvPr id="37" name="Text Placeholder 36">
            <a:extLst>
              <a:ext uri="{FF2B5EF4-FFF2-40B4-BE49-F238E27FC236}">
                <a16:creationId xmlns:a16="http://schemas.microsoft.com/office/drawing/2014/main" id="{F862A822-41D8-793D-F998-64DC8FB0163B}"/>
              </a:ext>
            </a:extLst>
          </p:cNvPr>
          <p:cNvSpPr>
            <a:spLocks noGrp="1"/>
          </p:cNvSpPr>
          <p:nvPr>
            <p:ph type="body" sz="quarter" idx="13"/>
          </p:nvPr>
        </p:nvSpPr>
        <p:spPr>
          <a:xfrm>
            <a:off x="760970" y="2187323"/>
            <a:ext cx="4833308" cy="632028"/>
          </a:xfrm>
        </p:spPr>
        <p:txBody>
          <a:bodyPr anchor="ctr"/>
          <a:lstStyle/>
          <a:p>
            <a:pPr fontAlgn="base">
              <a:lnSpc>
                <a:spcPct val="90000"/>
              </a:lnSpc>
              <a:spcBef>
                <a:spcPts val="1500"/>
              </a:spcBef>
            </a:pPr>
            <a:r>
              <a:rPr lang="en-IN" sz="2400" cap="all" dirty="0">
                <a:solidFill>
                  <a:schemeClr val="accent4"/>
                </a:solidFill>
                <a:latin typeface="+mj-lt"/>
              </a:rPr>
              <a:t>Demographic Analysis</a:t>
            </a:r>
          </a:p>
        </p:txBody>
      </p:sp>
      <p:sp>
        <p:nvSpPr>
          <p:cNvPr id="111" name="Title 110">
            <a:extLst>
              <a:ext uri="{FF2B5EF4-FFF2-40B4-BE49-F238E27FC236}">
                <a16:creationId xmlns:a16="http://schemas.microsoft.com/office/drawing/2014/main" id="{483E0314-3DB1-90C1-63EE-462F02B5E765}"/>
              </a:ext>
            </a:extLst>
          </p:cNvPr>
          <p:cNvSpPr>
            <a:spLocks noGrp="1"/>
          </p:cNvSpPr>
          <p:nvPr>
            <p:ph type="title"/>
          </p:nvPr>
        </p:nvSpPr>
        <p:spPr>
          <a:xfrm>
            <a:off x="4207835" y="928384"/>
            <a:ext cx="12822866" cy="998948"/>
          </a:xfrm>
        </p:spPr>
        <p:txBody>
          <a:bodyPr/>
          <a:lstStyle/>
          <a:p>
            <a:r>
              <a:rPr lang="en-IN" dirty="0"/>
              <a:t>Data Analysis &amp; Findings</a:t>
            </a:r>
            <a:endParaRPr lang="en-US" dirty="0"/>
          </a:p>
        </p:txBody>
      </p:sp>
      <p:sp>
        <p:nvSpPr>
          <p:cNvPr id="9" name="Text Placeholder 10">
            <a:extLst>
              <a:ext uri="{FF2B5EF4-FFF2-40B4-BE49-F238E27FC236}">
                <a16:creationId xmlns:a16="http://schemas.microsoft.com/office/drawing/2014/main" id="{BF729B68-39E3-0AA4-D851-2C47A85866AC}"/>
              </a:ext>
            </a:extLst>
          </p:cNvPr>
          <p:cNvSpPr txBox="1">
            <a:spLocks/>
          </p:cNvSpPr>
          <p:nvPr/>
        </p:nvSpPr>
        <p:spPr>
          <a:xfrm>
            <a:off x="296105" y="7305856"/>
            <a:ext cx="17442227" cy="1622177"/>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400" dirty="0"/>
          </a:p>
        </p:txBody>
      </p:sp>
      <p:sp>
        <p:nvSpPr>
          <p:cNvPr id="3" name="TextBox 2">
            <a:extLst>
              <a:ext uri="{FF2B5EF4-FFF2-40B4-BE49-F238E27FC236}">
                <a16:creationId xmlns:a16="http://schemas.microsoft.com/office/drawing/2014/main" id="{B3AF3803-4766-875B-3F27-F8F37DC1F52E}"/>
              </a:ext>
            </a:extLst>
          </p:cNvPr>
          <p:cNvSpPr txBox="1"/>
          <p:nvPr/>
        </p:nvSpPr>
        <p:spPr>
          <a:xfrm>
            <a:off x="11235473" y="2333801"/>
            <a:ext cx="4340148" cy="461665"/>
          </a:xfrm>
          <a:prstGeom prst="rect">
            <a:avLst/>
          </a:prstGeom>
          <a:noFill/>
        </p:spPr>
        <p:txBody>
          <a:bodyPr wrap="square">
            <a:spAutoFit/>
          </a:bodyPr>
          <a:lstStyle/>
          <a:p>
            <a:r>
              <a:rPr lang="en-IN" sz="2400" cap="all" spc="150" dirty="0">
                <a:solidFill>
                  <a:srgbClr val="04B3C3"/>
                </a:solidFill>
                <a:latin typeface="Seaford Bold"/>
              </a:rPr>
              <a:t>gender analysis</a:t>
            </a:r>
            <a:endParaRPr lang="en-IN" sz="2700" dirty="0"/>
          </a:p>
        </p:txBody>
      </p:sp>
      <p:pic>
        <p:nvPicPr>
          <p:cNvPr id="7" name="Picture 6">
            <a:extLst>
              <a:ext uri="{FF2B5EF4-FFF2-40B4-BE49-F238E27FC236}">
                <a16:creationId xmlns:a16="http://schemas.microsoft.com/office/drawing/2014/main" id="{424206EE-97D6-21AB-A75A-3674BE7DDC76}"/>
              </a:ext>
            </a:extLst>
          </p:cNvPr>
          <p:cNvPicPr>
            <a:picLocks noChangeAspect="1"/>
          </p:cNvPicPr>
          <p:nvPr/>
        </p:nvPicPr>
        <p:blipFill>
          <a:blip r:embed="rId2"/>
          <a:stretch>
            <a:fillRect/>
          </a:stretch>
        </p:blipFill>
        <p:spPr>
          <a:xfrm>
            <a:off x="9612155" y="2819349"/>
            <a:ext cx="7586784" cy="4344897"/>
          </a:xfrm>
          <a:prstGeom prst="rect">
            <a:avLst/>
          </a:prstGeom>
        </p:spPr>
      </p:pic>
      <p:pic>
        <p:nvPicPr>
          <p:cNvPr id="12" name="Picture 11">
            <a:extLst>
              <a:ext uri="{FF2B5EF4-FFF2-40B4-BE49-F238E27FC236}">
                <a16:creationId xmlns:a16="http://schemas.microsoft.com/office/drawing/2014/main" id="{74EB1CA6-5C46-D5C0-08EF-59C9840D5F16}"/>
              </a:ext>
            </a:extLst>
          </p:cNvPr>
          <p:cNvPicPr>
            <a:picLocks noChangeAspect="1"/>
          </p:cNvPicPr>
          <p:nvPr/>
        </p:nvPicPr>
        <p:blipFill>
          <a:blip r:embed="rId3"/>
          <a:stretch>
            <a:fillRect/>
          </a:stretch>
        </p:blipFill>
        <p:spPr>
          <a:xfrm>
            <a:off x="760970" y="2819350"/>
            <a:ext cx="8686118" cy="4023239"/>
          </a:xfrm>
          <a:prstGeom prst="rect">
            <a:avLst/>
          </a:prstGeom>
        </p:spPr>
      </p:pic>
      <p:sp>
        <p:nvSpPr>
          <p:cNvPr id="13" name="Text Placeholder 10">
            <a:extLst>
              <a:ext uri="{FF2B5EF4-FFF2-40B4-BE49-F238E27FC236}">
                <a16:creationId xmlns:a16="http://schemas.microsoft.com/office/drawing/2014/main" id="{11D05190-A5F1-5BC5-2F30-E42FBA533670}"/>
              </a:ext>
            </a:extLst>
          </p:cNvPr>
          <p:cNvSpPr txBox="1">
            <a:spLocks/>
          </p:cNvSpPr>
          <p:nvPr/>
        </p:nvSpPr>
        <p:spPr>
          <a:xfrm>
            <a:off x="296105" y="7164246"/>
            <a:ext cx="17442227" cy="2406132"/>
          </a:xfrm>
          <a:prstGeom prst="rect">
            <a:avLst/>
          </a:prstGeom>
        </p:spPr>
        <p:txBody>
          <a:bodyPr vert="horz" lIns="137160" tIns="68580" rIns="137160" bIns="6858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INSIGHTs</a:t>
            </a:r>
          </a:p>
          <a:p>
            <a:pPr marL="428625" indent="-428625">
              <a:buFont typeface="Courier New" panose="02070309020205020404" pitchFamily="49" charset="0"/>
              <a:buChar char="o"/>
            </a:pPr>
            <a:r>
              <a:rPr lang="en-US" sz="2400" cap="none" dirty="0">
                <a:solidFill>
                  <a:schemeClr val="tx1"/>
                </a:solidFill>
                <a:latin typeface="Cambria" panose="02040503050406030204" pitchFamily="18" charset="0"/>
                <a:ea typeface="Cambria" panose="02040503050406030204" pitchFamily="18" charset="0"/>
              </a:rPr>
              <a:t>There is no much </a:t>
            </a:r>
            <a:r>
              <a:rPr lang="en-IN" sz="2400" cap="none" dirty="0">
                <a:solidFill>
                  <a:schemeClr val="tx1"/>
                </a:solidFill>
                <a:latin typeface="Cambria" panose="02040503050406030204" pitchFamily="18" charset="0"/>
                <a:ea typeface="Cambria" panose="02040503050406030204" pitchFamily="18" charset="0"/>
              </a:rPr>
              <a:t>difference in gender as Male &amp; Female have generated around ~99% where as ~51% Male and ~48 Female Patients were recorded </a:t>
            </a:r>
          </a:p>
          <a:p>
            <a:pPr marL="428625" indent="-428625">
              <a:buFont typeface="Courier New" panose="02070309020205020404" pitchFamily="49" charset="0"/>
              <a:buChar char="o"/>
            </a:pPr>
            <a:r>
              <a:rPr lang="en-IN" sz="2400" cap="none" dirty="0">
                <a:solidFill>
                  <a:schemeClr val="tx1"/>
                </a:solidFill>
                <a:latin typeface="Cambria" panose="02040503050406030204" pitchFamily="18" charset="0"/>
                <a:ea typeface="Cambria" panose="02040503050406030204" pitchFamily="18" charset="0"/>
              </a:rPr>
              <a:t>In Demographic Analysis we can notice that White race have generated revenue around ~27% overall and  greater than other races as well. This can be used while hospital is planning to start a new branches.</a:t>
            </a:r>
            <a:endParaRPr lang="en-US" sz="2400" cap="none"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49986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B943F-BD47-EA51-EC15-8F9ECED0DBE1}"/>
            </a:ext>
          </a:extLst>
        </p:cNvPr>
        <p:cNvGrpSpPr/>
        <p:nvPr/>
      </p:nvGrpSpPr>
      <p:grpSpPr>
        <a:xfrm>
          <a:off x="0" y="0"/>
          <a:ext cx="0" cy="0"/>
          <a:chOff x="0" y="0"/>
          <a:chExt cx="0" cy="0"/>
        </a:xfrm>
      </p:grpSpPr>
      <p:sp>
        <p:nvSpPr>
          <p:cNvPr id="22" name="Slide Number Placeholder 21">
            <a:extLst>
              <a:ext uri="{FF2B5EF4-FFF2-40B4-BE49-F238E27FC236}">
                <a16:creationId xmlns:a16="http://schemas.microsoft.com/office/drawing/2014/main" id="{5EA56CF8-CCE6-CAD3-7DB3-C9D2698FA1BF}"/>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14</a:t>
            </a:fld>
            <a:endParaRPr lang="en-US" dirty="0"/>
          </a:p>
        </p:txBody>
      </p:sp>
      <p:pic>
        <p:nvPicPr>
          <p:cNvPr id="5" name="Picture Placeholder 4">
            <a:extLst>
              <a:ext uri="{FF2B5EF4-FFF2-40B4-BE49-F238E27FC236}">
                <a16:creationId xmlns:a16="http://schemas.microsoft.com/office/drawing/2014/main" id="{9D1EB46D-E4D4-F430-8276-649375569EFD}"/>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1415" r="11415"/>
          <a:stretch>
            <a:fillRect/>
          </a:stretch>
        </p:blipFill>
        <p:spPr>
          <a:solidFill>
            <a:schemeClr val="bg1"/>
          </a:solidFill>
        </p:spPr>
      </p:pic>
      <p:sp>
        <p:nvSpPr>
          <p:cNvPr id="14" name="Text Placeholder 13">
            <a:extLst>
              <a:ext uri="{FF2B5EF4-FFF2-40B4-BE49-F238E27FC236}">
                <a16:creationId xmlns:a16="http://schemas.microsoft.com/office/drawing/2014/main" id="{2FAC0A9B-B271-E822-C7B4-86D77FA4A2A2}"/>
              </a:ext>
            </a:extLst>
          </p:cNvPr>
          <p:cNvSpPr>
            <a:spLocks noGrp="1"/>
          </p:cNvSpPr>
          <p:nvPr>
            <p:ph type="body" sz="quarter" idx="16"/>
          </p:nvPr>
        </p:nvSpPr>
        <p:spPr>
          <a:xfrm>
            <a:off x="9525314" y="2620573"/>
            <a:ext cx="7973415" cy="6498983"/>
          </a:xfrm>
        </p:spPr>
        <p:txBody>
          <a:bodyPr/>
          <a:lstStyle/>
          <a:p>
            <a:pPr algn="just"/>
            <a:r>
              <a:rPr lang="en-US" sz="2400" b="1" dirty="0">
                <a:latin typeface="Aptos Narrow" panose="020B0004020202020204" pitchFamily="34" charset="0"/>
              </a:rPr>
              <a:t>Patient Satisfaction Rate</a:t>
            </a:r>
          </a:p>
          <a:p>
            <a:pPr marL="428625" indent="-428625">
              <a:spcBef>
                <a:spcPts val="900"/>
              </a:spcBef>
              <a:buFont typeface="Courier New" panose="02070309020205020404" pitchFamily="49" charset="0"/>
              <a:buChar char="o"/>
            </a:pPr>
            <a:r>
              <a:rPr lang="en-US" dirty="0"/>
              <a:t>Patient satisfaction scores vary significantly across different age groups and racial demographics, with some groups consistently reporting lower satisfaction.</a:t>
            </a:r>
            <a:endParaRPr lang="en-US" dirty="0">
              <a:latin typeface="Cambria" panose="02040503050406030204" pitchFamily="18" charset="0"/>
              <a:ea typeface="Cambria" panose="02040503050406030204" pitchFamily="18" charset="0"/>
            </a:endParaRPr>
          </a:p>
          <a:p>
            <a:pPr algn="just"/>
            <a:endParaRPr lang="en-US" b="1" dirty="0">
              <a:latin typeface="Cambria" panose="02040503050406030204" pitchFamily="18" charset="0"/>
              <a:ea typeface="Cambria" panose="02040503050406030204" pitchFamily="18" charset="0"/>
            </a:endParaRPr>
          </a:p>
          <a:p>
            <a:pPr algn="just">
              <a:spcBef>
                <a:spcPts val="900"/>
              </a:spcBef>
            </a:pPr>
            <a:r>
              <a:rPr lang="en-IN" b="1" dirty="0">
                <a:latin typeface="Cambria" panose="02040503050406030204" pitchFamily="18" charset="0"/>
                <a:ea typeface="Cambria" panose="02040503050406030204" pitchFamily="18" charset="0"/>
              </a:rPr>
              <a:t>Recommendations:</a:t>
            </a:r>
          </a:p>
          <a:p>
            <a:pPr marL="428625" indent="-428625">
              <a:buFont typeface="Courier New" panose="02070309020205020404" pitchFamily="49" charset="0"/>
              <a:buChar char="o"/>
            </a:pPr>
            <a:r>
              <a:rPr lang="en-US" dirty="0"/>
              <a:t>Develop targeted patient engagement strategies for age groups and racial demographics showing lower satisfaction scores.</a:t>
            </a:r>
          </a:p>
          <a:p>
            <a:pPr marL="428625" indent="-428625">
              <a:buFont typeface="Courier New" panose="02070309020205020404" pitchFamily="49" charset="0"/>
              <a:buChar char="o"/>
            </a:pPr>
            <a:r>
              <a:rPr lang="en-US" dirty="0"/>
              <a:t>Customize services and communication based on demographic needs to provide a more personalized patient experience.</a:t>
            </a:r>
          </a:p>
        </p:txBody>
      </p:sp>
      <p:sp>
        <p:nvSpPr>
          <p:cNvPr id="15" name="Text Placeholder 14">
            <a:extLst>
              <a:ext uri="{FF2B5EF4-FFF2-40B4-BE49-F238E27FC236}">
                <a16:creationId xmlns:a16="http://schemas.microsoft.com/office/drawing/2014/main" id="{C1AD9E29-ABCB-2381-9A5B-83AF2EBC4C6F}"/>
              </a:ext>
            </a:extLst>
          </p:cNvPr>
          <p:cNvSpPr>
            <a:spLocks noGrp="1"/>
          </p:cNvSpPr>
          <p:nvPr>
            <p:ph type="body" sz="quarter" idx="17"/>
          </p:nvPr>
        </p:nvSpPr>
        <p:spPr>
          <a:xfrm>
            <a:off x="9525314" y="1316952"/>
            <a:ext cx="6629400" cy="826305"/>
          </a:xfrm>
        </p:spPr>
        <p:txBody>
          <a:bodyPr/>
          <a:lstStyle/>
          <a:p>
            <a:r>
              <a:rPr lang="en-US" dirty="0"/>
              <a:t>Analysis</a:t>
            </a:r>
          </a:p>
        </p:txBody>
      </p:sp>
      <p:sp>
        <p:nvSpPr>
          <p:cNvPr id="45" name="Title 44">
            <a:extLst>
              <a:ext uri="{FF2B5EF4-FFF2-40B4-BE49-F238E27FC236}">
                <a16:creationId xmlns:a16="http://schemas.microsoft.com/office/drawing/2014/main" id="{F66E058F-2634-DDFF-773C-BC46CA5FE5C3}"/>
              </a:ext>
            </a:extLst>
          </p:cNvPr>
          <p:cNvSpPr>
            <a:spLocks noGrp="1"/>
          </p:cNvSpPr>
          <p:nvPr>
            <p:ph type="title"/>
          </p:nvPr>
        </p:nvSpPr>
        <p:spPr>
          <a:xfrm>
            <a:off x="1946710" y="353840"/>
            <a:ext cx="14394581" cy="963113"/>
          </a:xfrm>
        </p:spPr>
        <p:txBody>
          <a:bodyPr/>
          <a:lstStyle/>
          <a:p>
            <a:r>
              <a:rPr lang="en-US" dirty="0"/>
              <a:t>Patient </a:t>
            </a:r>
            <a:r>
              <a:rPr lang="en-IN" dirty="0"/>
              <a:t>Satisfaction</a:t>
            </a:r>
            <a:r>
              <a:rPr lang="en-US" dirty="0"/>
              <a:t> </a:t>
            </a:r>
            <a:r>
              <a:rPr lang="en-IN" dirty="0"/>
              <a:t>Growth</a:t>
            </a:r>
            <a:endParaRPr lang="en-US" dirty="0"/>
          </a:p>
        </p:txBody>
      </p:sp>
    </p:spTree>
    <p:extLst>
      <p:ext uri="{BB962C8B-B14F-4D97-AF65-F5344CB8AC3E}">
        <p14:creationId xmlns:p14="http://schemas.microsoft.com/office/powerpoint/2010/main" val="3853419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21">
            <a:extLst>
              <a:ext uri="{FF2B5EF4-FFF2-40B4-BE49-F238E27FC236}">
                <a16:creationId xmlns:a16="http://schemas.microsoft.com/office/drawing/2014/main" id="{D83D237B-5C8E-4573-85F9-91EC63F3EA47}"/>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15</a:t>
            </a:fld>
            <a:endParaRPr lang="en-US" dirty="0"/>
          </a:p>
        </p:txBody>
      </p:sp>
      <p:pic>
        <p:nvPicPr>
          <p:cNvPr id="24" name="Picture Placeholder 23" descr="A close-up of a stethoscope">
            <a:extLst>
              <a:ext uri="{FF2B5EF4-FFF2-40B4-BE49-F238E27FC236}">
                <a16:creationId xmlns:a16="http://schemas.microsoft.com/office/drawing/2014/main" id="{DD2F3F3D-99FE-4AB9-BE87-81D580BFC2EA}"/>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29" b="29"/>
          <a:stretch/>
        </p:blipFill>
        <p:spPr/>
      </p:pic>
      <p:sp>
        <p:nvSpPr>
          <p:cNvPr id="14" name="Text Placeholder 13">
            <a:extLst>
              <a:ext uri="{FF2B5EF4-FFF2-40B4-BE49-F238E27FC236}">
                <a16:creationId xmlns:a16="http://schemas.microsoft.com/office/drawing/2014/main" id="{0321A7BC-BAD6-4CBA-9AD5-2AD73F8A426C}"/>
              </a:ext>
            </a:extLst>
          </p:cNvPr>
          <p:cNvSpPr>
            <a:spLocks noGrp="1"/>
          </p:cNvSpPr>
          <p:nvPr>
            <p:ph type="body" sz="quarter" idx="16"/>
          </p:nvPr>
        </p:nvSpPr>
        <p:spPr>
          <a:xfrm>
            <a:off x="9380934" y="2384060"/>
            <a:ext cx="7973415" cy="6498983"/>
          </a:xfrm>
        </p:spPr>
        <p:txBody>
          <a:bodyPr/>
          <a:lstStyle/>
          <a:p>
            <a:pPr algn="just"/>
            <a:r>
              <a:rPr lang="en-US" sz="2400" b="1" dirty="0">
                <a:latin typeface="Aptos Narrow" panose="020B0004020202020204" pitchFamily="34" charset="0"/>
              </a:rPr>
              <a:t>Staffing &amp; Growth</a:t>
            </a:r>
          </a:p>
          <a:p>
            <a:pPr marL="428625" indent="-428625" algn="just">
              <a:spcBef>
                <a:spcPts val="900"/>
              </a:spcBef>
              <a:buFont typeface="Courier New" panose="02070309020205020404" pitchFamily="49" charset="0"/>
              <a:buChar char="o"/>
            </a:pPr>
            <a:r>
              <a:rPr lang="en-US" b="1" dirty="0">
                <a:latin typeface="Aptos Narrow" panose="020B0004020202020204" pitchFamily="34" charset="0"/>
              </a:rPr>
              <a:t>Strategic Doctor Hiring: </a:t>
            </a:r>
            <a:r>
              <a:rPr lang="en-US" dirty="0">
                <a:latin typeface="Aptos Narrow" panose="020B0004020202020204" pitchFamily="34" charset="0"/>
              </a:rPr>
              <a:t>General Practice Department: With over 7,200 patient visits and only 3 doctors currently managing the load, it is highly recommended to recruit 2–3 additional general practitioners. </a:t>
            </a:r>
          </a:p>
          <a:p>
            <a:pPr marL="428625" indent="-428625" algn="just">
              <a:spcBef>
                <a:spcPts val="900"/>
              </a:spcBef>
              <a:buFont typeface="Courier New" panose="02070309020205020404" pitchFamily="49" charset="0"/>
              <a:buChar char="o"/>
            </a:pPr>
            <a:r>
              <a:rPr lang="en-US" dirty="0">
                <a:latin typeface="Aptos Narrow" panose="020B0004020202020204" pitchFamily="34" charset="0"/>
              </a:rPr>
              <a:t>This expansion will reduce strain on the existing team, enhance service quality, and significantly improve patient access and wait times.</a:t>
            </a:r>
          </a:p>
          <a:p>
            <a:pPr marL="428625" indent="-428625" algn="just">
              <a:spcBef>
                <a:spcPts val="900"/>
              </a:spcBef>
              <a:buFont typeface="Courier New" panose="02070309020205020404" pitchFamily="49" charset="0"/>
              <a:buChar char="o"/>
            </a:pPr>
            <a:r>
              <a:rPr lang="en-US" b="1" dirty="0">
                <a:latin typeface="Aptos Narrow" panose="020B0004020202020204" pitchFamily="34" charset="0"/>
              </a:rPr>
              <a:t>Hospital Profitability Overview: </a:t>
            </a:r>
            <a:r>
              <a:rPr lang="en-US" dirty="0">
                <a:latin typeface="Aptos Narrow" panose="020B0004020202020204" pitchFamily="34" charset="0"/>
              </a:rPr>
              <a:t>Columbia Asia Hospital displays strong and stable financial performance, with consistently high profitability. This solid financial footing provides the flexibility to invest confidently in staff expansion and patient-centered initiatives, ensuring continued growth and operational excellence.</a:t>
            </a:r>
          </a:p>
        </p:txBody>
      </p:sp>
      <p:sp>
        <p:nvSpPr>
          <p:cNvPr id="15" name="Text Placeholder 14">
            <a:extLst>
              <a:ext uri="{FF2B5EF4-FFF2-40B4-BE49-F238E27FC236}">
                <a16:creationId xmlns:a16="http://schemas.microsoft.com/office/drawing/2014/main" id="{6D400E89-A3FC-4A30-90D4-896304E917C8}"/>
              </a:ext>
            </a:extLst>
          </p:cNvPr>
          <p:cNvSpPr>
            <a:spLocks noGrp="1"/>
          </p:cNvSpPr>
          <p:nvPr>
            <p:ph type="body" sz="quarter" idx="17"/>
          </p:nvPr>
        </p:nvSpPr>
        <p:spPr>
          <a:xfrm>
            <a:off x="9380934" y="1557755"/>
            <a:ext cx="6629400" cy="826305"/>
          </a:xfrm>
        </p:spPr>
        <p:txBody>
          <a:bodyPr/>
          <a:lstStyle/>
          <a:p>
            <a:r>
              <a:rPr lang="en-US" dirty="0"/>
              <a:t>Analysis</a:t>
            </a:r>
          </a:p>
        </p:txBody>
      </p:sp>
      <p:sp>
        <p:nvSpPr>
          <p:cNvPr id="45" name="Title 44">
            <a:extLst>
              <a:ext uri="{FF2B5EF4-FFF2-40B4-BE49-F238E27FC236}">
                <a16:creationId xmlns:a16="http://schemas.microsoft.com/office/drawing/2014/main" id="{56DDD3FB-981D-46B3-9DF6-1D5D6429B804}"/>
              </a:ext>
            </a:extLst>
          </p:cNvPr>
          <p:cNvSpPr>
            <a:spLocks noGrp="1"/>
          </p:cNvSpPr>
          <p:nvPr>
            <p:ph type="title"/>
          </p:nvPr>
        </p:nvSpPr>
        <p:spPr>
          <a:xfrm>
            <a:off x="6408794" y="763855"/>
            <a:ext cx="10260959" cy="963113"/>
          </a:xfrm>
        </p:spPr>
        <p:txBody>
          <a:bodyPr/>
          <a:lstStyle/>
          <a:p>
            <a:r>
              <a:rPr lang="en-US" dirty="0"/>
              <a:t>Staff Hire </a:t>
            </a:r>
            <a:r>
              <a:rPr lang="en-IN" dirty="0"/>
              <a:t>Strategy </a:t>
            </a:r>
            <a:endParaRPr lang="en-US" dirty="0"/>
          </a:p>
        </p:txBody>
      </p:sp>
    </p:spTree>
    <p:extLst>
      <p:ext uri="{BB962C8B-B14F-4D97-AF65-F5344CB8AC3E}">
        <p14:creationId xmlns:p14="http://schemas.microsoft.com/office/powerpoint/2010/main" val="1619313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304C-F3C7-7995-FFF9-E2860CD1497E}"/>
            </a:ext>
          </a:extLst>
        </p:cNvPr>
        <p:cNvGrpSpPr/>
        <p:nvPr/>
      </p:nvGrpSpPr>
      <p:grpSpPr>
        <a:xfrm>
          <a:off x="0" y="0"/>
          <a:ext cx="0" cy="0"/>
          <a:chOff x="0" y="0"/>
          <a:chExt cx="0" cy="0"/>
        </a:xfrm>
      </p:grpSpPr>
      <p:sp>
        <p:nvSpPr>
          <p:cNvPr id="22" name="Slide Number Placeholder 21">
            <a:extLst>
              <a:ext uri="{FF2B5EF4-FFF2-40B4-BE49-F238E27FC236}">
                <a16:creationId xmlns:a16="http://schemas.microsoft.com/office/drawing/2014/main" id="{07481C8D-EC72-3AB1-8026-57712F2CCCA9}"/>
              </a:ext>
            </a:extLst>
          </p:cNvPr>
          <p:cNvSpPr>
            <a:spLocks noGrp="1"/>
          </p:cNvSpPr>
          <p:nvPr>
            <p:ph type="sldNum" sz="quarter" idx="12"/>
          </p:nvPr>
        </p:nvSpPr>
        <p:spPr>
          <a:xfrm>
            <a:off x="12915900" y="9773630"/>
            <a:ext cx="4114800" cy="308583"/>
          </a:xfrm>
        </p:spPr>
        <p:txBody>
          <a:bodyPr/>
          <a:lstStyle/>
          <a:p>
            <a:fld id="{BF860B6F-2FE3-4DE6-9496-980E987E7466}" type="slidenum">
              <a:rPr lang="en-US" smtClean="0"/>
              <a:pPr/>
              <a:t>16</a:t>
            </a:fld>
            <a:endParaRPr lang="en-US" dirty="0"/>
          </a:p>
        </p:txBody>
      </p:sp>
      <p:sp>
        <p:nvSpPr>
          <p:cNvPr id="14" name="Text Placeholder 13">
            <a:extLst>
              <a:ext uri="{FF2B5EF4-FFF2-40B4-BE49-F238E27FC236}">
                <a16:creationId xmlns:a16="http://schemas.microsoft.com/office/drawing/2014/main" id="{ABCB03D2-CC12-D607-762B-7C7F5C56FF07}"/>
              </a:ext>
            </a:extLst>
          </p:cNvPr>
          <p:cNvSpPr>
            <a:spLocks noGrp="1"/>
          </p:cNvSpPr>
          <p:nvPr>
            <p:ph type="body" sz="quarter" idx="16"/>
          </p:nvPr>
        </p:nvSpPr>
        <p:spPr>
          <a:xfrm>
            <a:off x="9525313" y="2620573"/>
            <a:ext cx="8762687" cy="6498983"/>
          </a:xfrm>
        </p:spPr>
        <p:txBody>
          <a:bodyPr/>
          <a:lstStyle/>
          <a:p>
            <a:pPr algn="just"/>
            <a:r>
              <a:rPr lang="en-US" sz="2400" b="1" dirty="0">
                <a:latin typeface="Aptos Narrow" panose="020B0004020202020204" pitchFamily="34" charset="0"/>
              </a:rPr>
              <a:t>Discount </a:t>
            </a:r>
            <a:r>
              <a:rPr lang="en-IN" sz="2400" b="1" dirty="0">
                <a:latin typeface="Aptos Narrow" panose="020B0004020202020204" pitchFamily="34" charset="0"/>
              </a:rPr>
              <a:t>Eligibility </a:t>
            </a:r>
            <a:endParaRPr lang="en-US" sz="2400" b="1" dirty="0">
              <a:latin typeface="Aptos Narrow" panose="020B0004020202020204" pitchFamily="34" charset="0"/>
            </a:endParaRPr>
          </a:p>
          <a:p>
            <a:pPr marL="428625" indent="-428625">
              <a:spcBef>
                <a:spcPts val="900"/>
              </a:spcBef>
              <a:buFont typeface="Courier New" panose="02070309020205020404" pitchFamily="49" charset="0"/>
              <a:buChar char="o"/>
            </a:pPr>
            <a:r>
              <a:rPr lang="en-US" dirty="0">
                <a:latin typeface="Cambria" panose="02040503050406030204" pitchFamily="18" charset="0"/>
                <a:ea typeface="Cambria" panose="02040503050406030204" pitchFamily="18" charset="0"/>
              </a:rPr>
              <a:t>Patients receiving medium to high-level discounts based on their total bill </a:t>
            </a:r>
            <a:endParaRPr lang="en-US" b="1" dirty="0">
              <a:latin typeface="Cambria" panose="02040503050406030204" pitchFamily="18" charset="0"/>
              <a:ea typeface="Cambria" panose="02040503050406030204" pitchFamily="18" charset="0"/>
            </a:endParaRPr>
          </a:p>
          <a:p>
            <a:pPr algn="just">
              <a:spcBef>
                <a:spcPts val="900"/>
              </a:spcBef>
            </a:pPr>
            <a:r>
              <a:rPr lang="en-IN" b="1" dirty="0">
                <a:latin typeface="Cambria" panose="02040503050406030204" pitchFamily="18" charset="0"/>
                <a:ea typeface="Cambria" panose="02040503050406030204" pitchFamily="18" charset="0"/>
              </a:rPr>
              <a:t>Recommendations:</a:t>
            </a:r>
          </a:p>
          <a:p>
            <a:pPr marL="428625" indent="-428625">
              <a:spcBef>
                <a:spcPts val="900"/>
              </a:spcBef>
              <a:buFont typeface="Courier New" panose="02070309020205020404" pitchFamily="49" charset="0"/>
              <a:buChar char="o"/>
            </a:pPr>
            <a:r>
              <a:rPr lang="en-US" dirty="0">
                <a:latin typeface="Cambria" panose="02040503050406030204" pitchFamily="18" charset="0"/>
                <a:ea typeface="Cambria" panose="02040503050406030204" pitchFamily="18" charset="0"/>
              </a:rPr>
              <a:t>Introduce loyalty discounts or follow-up visit discounts to encourage repeat visits and build long-term patient relationships. </a:t>
            </a:r>
            <a:r>
              <a:rPr lang="en-IN" dirty="0">
                <a:latin typeface="Cambria" panose="02040503050406030204" pitchFamily="18" charset="0"/>
                <a:ea typeface="Cambria" panose="02040503050406030204" pitchFamily="18" charset="0"/>
              </a:rPr>
              <a:t>Provide special discounts for senior citizens and long-term patients to enhance trust and goodwill.</a:t>
            </a:r>
            <a:endParaRPr lang="en-US" dirty="0">
              <a:latin typeface="Cambria" panose="02040503050406030204" pitchFamily="18" charset="0"/>
              <a:ea typeface="Cambria" panose="02040503050406030204" pitchFamily="18" charset="0"/>
            </a:endParaRPr>
          </a:p>
          <a:p>
            <a:pPr marL="428625" indent="-428625">
              <a:spcBef>
                <a:spcPts val="900"/>
              </a:spcBef>
              <a:buFont typeface="Courier New" panose="02070309020205020404" pitchFamily="49" charset="0"/>
              <a:buChar char="o"/>
            </a:pPr>
            <a:r>
              <a:rPr lang="en-IN" dirty="0">
                <a:latin typeface="Cambria" panose="02040503050406030204" pitchFamily="18" charset="0"/>
                <a:ea typeface="Cambria" panose="02040503050406030204" pitchFamily="18" charset="0"/>
              </a:rPr>
              <a:t>Introduce seasonal wellness packages (e.g., winter immunity or summer hydration checkups) with bundled discounts to attract patients during off-peak periods.</a:t>
            </a:r>
          </a:p>
          <a:p>
            <a:pPr marL="428625" indent="-428625" algn="just">
              <a:spcBef>
                <a:spcPts val="900"/>
              </a:spcBef>
              <a:buFont typeface="Courier New" panose="02070309020205020404" pitchFamily="49" charset="0"/>
              <a:buChar char="o"/>
            </a:pPr>
            <a:endParaRPr lang="en-US" sz="2400" dirty="0">
              <a:latin typeface="Cambria" panose="02040503050406030204" pitchFamily="18" charset="0"/>
              <a:ea typeface="Cambria" panose="02040503050406030204" pitchFamily="18" charset="0"/>
            </a:endParaRPr>
          </a:p>
        </p:txBody>
      </p:sp>
      <p:sp>
        <p:nvSpPr>
          <p:cNvPr id="15" name="Text Placeholder 14">
            <a:extLst>
              <a:ext uri="{FF2B5EF4-FFF2-40B4-BE49-F238E27FC236}">
                <a16:creationId xmlns:a16="http://schemas.microsoft.com/office/drawing/2014/main" id="{EC3FC744-0585-13A1-CF87-F64C1FDB379B}"/>
              </a:ext>
            </a:extLst>
          </p:cNvPr>
          <p:cNvSpPr>
            <a:spLocks noGrp="1"/>
          </p:cNvSpPr>
          <p:nvPr>
            <p:ph type="body" sz="quarter" idx="17"/>
          </p:nvPr>
        </p:nvSpPr>
        <p:spPr>
          <a:xfrm>
            <a:off x="9525314" y="1140192"/>
            <a:ext cx="6629400" cy="826305"/>
          </a:xfrm>
        </p:spPr>
        <p:txBody>
          <a:bodyPr/>
          <a:lstStyle/>
          <a:p>
            <a:r>
              <a:rPr lang="en-US" dirty="0"/>
              <a:t>Analysis</a:t>
            </a:r>
          </a:p>
        </p:txBody>
      </p:sp>
      <p:sp>
        <p:nvSpPr>
          <p:cNvPr id="45" name="Title 44">
            <a:extLst>
              <a:ext uri="{FF2B5EF4-FFF2-40B4-BE49-F238E27FC236}">
                <a16:creationId xmlns:a16="http://schemas.microsoft.com/office/drawing/2014/main" id="{B45A7B26-5215-9E8B-598A-5E1F559E0174}"/>
              </a:ext>
            </a:extLst>
          </p:cNvPr>
          <p:cNvSpPr>
            <a:spLocks noGrp="1"/>
          </p:cNvSpPr>
          <p:nvPr>
            <p:ph type="title"/>
          </p:nvPr>
        </p:nvSpPr>
        <p:spPr>
          <a:xfrm>
            <a:off x="8567042" y="181321"/>
            <a:ext cx="9370194" cy="963113"/>
          </a:xfrm>
        </p:spPr>
        <p:txBody>
          <a:bodyPr/>
          <a:lstStyle/>
          <a:p>
            <a:r>
              <a:rPr lang="en-IN" dirty="0"/>
              <a:t>Discount Strategy </a:t>
            </a:r>
            <a:endParaRPr lang="en-US" dirty="0"/>
          </a:p>
        </p:txBody>
      </p:sp>
      <p:pic>
        <p:nvPicPr>
          <p:cNvPr id="7" name="Picture 6">
            <a:extLst>
              <a:ext uri="{FF2B5EF4-FFF2-40B4-BE49-F238E27FC236}">
                <a16:creationId xmlns:a16="http://schemas.microsoft.com/office/drawing/2014/main" id="{0C28E282-FBC1-033B-0EFF-68D00C2FA875}"/>
              </a:ext>
            </a:extLst>
          </p:cNvPr>
          <p:cNvPicPr>
            <a:picLocks noChangeAspect="1"/>
          </p:cNvPicPr>
          <p:nvPr/>
        </p:nvPicPr>
        <p:blipFill>
          <a:blip r:embed="rId2"/>
          <a:stretch>
            <a:fillRect/>
          </a:stretch>
        </p:blipFill>
        <p:spPr>
          <a:xfrm>
            <a:off x="789272" y="1316952"/>
            <a:ext cx="8037653" cy="7686921"/>
          </a:xfrm>
          <a:prstGeom prst="rect">
            <a:avLst/>
          </a:prstGeom>
        </p:spPr>
      </p:pic>
    </p:spTree>
    <p:extLst>
      <p:ext uri="{BB962C8B-B14F-4D97-AF65-F5344CB8AC3E}">
        <p14:creationId xmlns:p14="http://schemas.microsoft.com/office/powerpoint/2010/main" val="468426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Freeform 3"/>
          <p:cNvSpPr/>
          <p:nvPr/>
        </p:nvSpPr>
        <p:spPr>
          <a:xfrm>
            <a:off x="335583" y="3684845"/>
            <a:ext cx="2381264" cy="2078194"/>
          </a:xfrm>
          <a:custGeom>
            <a:avLst/>
            <a:gdLst/>
            <a:ahLst/>
            <a:cxnLst/>
            <a:rect l="l" t="t" r="r" b="b"/>
            <a:pathLst>
              <a:path w="2381264" h="2078194">
                <a:moveTo>
                  <a:pt x="0" y="0"/>
                </a:moveTo>
                <a:lnTo>
                  <a:pt x="2381264" y="0"/>
                </a:lnTo>
                <a:lnTo>
                  <a:pt x="2381264" y="2078193"/>
                </a:lnTo>
                <a:lnTo>
                  <a:pt x="0" y="20781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35583" y="415118"/>
            <a:ext cx="4476959" cy="795986"/>
          </a:xfrm>
          <a:prstGeom prst="rect">
            <a:avLst/>
          </a:prstGeom>
        </p:spPr>
        <p:txBody>
          <a:bodyPr lIns="0" tIns="0" rIns="0" bIns="0" rtlCol="0" anchor="t">
            <a:spAutoFit/>
          </a:bodyPr>
          <a:lstStyle/>
          <a:p>
            <a:pPr algn="l">
              <a:lnSpc>
                <a:spcPts val="6526"/>
              </a:lnSpc>
            </a:pPr>
            <a:r>
              <a:rPr lang="en-US" sz="4661">
                <a:solidFill>
                  <a:srgbClr val="3B365F"/>
                </a:solidFill>
                <a:latin typeface="TAN Headline"/>
                <a:ea typeface="TAN Headline"/>
                <a:cs typeface="TAN Headline"/>
                <a:sym typeface="TAN Headline"/>
              </a:rPr>
              <a:t>MAIN PAGE</a:t>
            </a:r>
          </a:p>
        </p:txBody>
      </p:sp>
      <p:pic>
        <p:nvPicPr>
          <p:cNvPr id="5" name="Picture 4">
            <a:extLst>
              <a:ext uri="{FF2B5EF4-FFF2-40B4-BE49-F238E27FC236}">
                <a16:creationId xmlns:a16="http://schemas.microsoft.com/office/drawing/2014/main" id="{DE6213AF-C6C6-4200-62AA-31AFD0244602}"/>
              </a:ext>
            </a:extLst>
          </p:cNvPr>
          <p:cNvPicPr>
            <a:picLocks noChangeAspect="1"/>
          </p:cNvPicPr>
          <p:nvPr/>
        </p:nvPicPr>
        <p:blipFill>
          <a:blip r:embed="rId4"/>
          <a:stretch>
            <a:fillRect/>
          </a:stretch>
        </p:blipFill>
        <p:spPr>
          <a:xfrm>
            <a:off x="3733800" y="1333500"/>
            <a:ext cx="13832230" cy="784016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5" name="TextBox 5"/>
          <p:cNvSpPr txBox="1"/>
          <p:nvPr/>
        </p:nvSpPr>
        <p:spPr>
          <a:xfrm>
            <a:off x="-342956" y="489619"/>
            <a:ext cx="7595012" cy="963862"/>
          </a:xfrm>
          <a:prstGeom prst="rect">
            <a:avLst/>
          </a:prstGeom>
        </p:spPr>
        <p:txBody>
          <a:bodyPr lIns="0" tIns="0" rIns="0" bIns="0" rtlCol="0" anchor="t">
            <a:spAutoFit/>
          </a:bodyPr>
          <a:lstStyle/>
          <a:p>
            <a:pPr algn="ctr">
              <a:lnSpc>
                <a:spcPts val="7804"/>
              </a:lnSpc>
            </a:pPr>
            <a:r>
              <a:rPr lang="en-US" sz="5574">
                <a:solidFill>
                  <a:srgbClr val="3B365F"/>
                </a:solidFill>
                <a:latin typeface="TAN Headline"/>
                <a:ea typeface="TAN Headline"/>
                <a:cs typeface="TAN Headline"/>
                <a:sym typeface="TAN Headline"/>
              </a:rPr>
              <a:t>Doctor’s Page</a:t>
            </a:r>
          </a:p>
        </p:txBody>
      </p:sp>
      <p:sp>
        <p:nvSpPr>
          <p:cNvPr id="8" name="Freeform 6">
            <a:extLst>
              <a:ext uri="{FF2B5EF4-FFF2-40B4-BE49-F238E27FC236}">
                <a16:creationId xmlns:a16="http://schemas.microsoft.com/office/drawing/2014/main" id="{63581C12-A5D3-862C-4145-C0B633C5BBDA}"/>
              </a:ext>
            </a:extLst>
          </p:cNvPr>
          <p:cNvSpPr/>
          <p:nvPr/>
        </p:nvSpPr>
        <p:spPr>
          <a:xfrm>
            <a:off x="228600" y="4898886"/>
            <a:ext cx="3429000" cy="5181600"/>
          </a:xfrm>
          <a:custGeom>
            <a:avLst/>
            <a:gdLst/>
            <a:ahLst/>
            <a:cxnLst/>
            <a:rect l="l" t="t" r="r" b="b"/>
            <a:pathLst>
              <a:path w="4364916" h="6187381">
                <a:moveTo>
                  <a:pt x="0" y="0"/>
                </a:moveTo>
                <a:lnTo>
                  <a:pt x="4364916" y="0"/>
                </a:lnTo>
                <a:lnTo>
                  <a:pt x="4364916" y="6187381"/>
                </a:lnTo>
                <a:lnTo>
                  <a:pt x="0" y="6187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 name="Picture 2">
            <a:extLst>
              <a:ext uri="{FF2B5EF4-FFF2-40B4-BE49-F238E27FC236}">
                <a16:creationId xmlns:a16="http://schemas.microsoft.com/office/drawing/2014/main" id="{79ECC3B6-1023-5BAD-104E-6F044B29B444}"/>
              </a:ext>
            </a:extLst>
          </p:cNvPr>
          <p:cNvPicPr>
            <a:picLocks noChangeAspect="1"/>
          </p:cNvPicPr>
          <p:nvPr/>
        </p:nvPicPr>
        <p:blipFill>
          <a:blip r:embed="rId4"/>
          <a:stretch>
            <a:fillRect/>
          </a:stretch>
        </p:blipFill>
        <p:spPr>
          <a:xfrm>
            <a:off x="4114800" y="1638300"/>
            <a:ext cx="13803651" cy="77830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Freeform 3"/>
          <p:cNvSpPr/>
          <p:nvPr/>
        </p:nvSpPr>
        <p:spPr>
          <a:xfrm flipH="1">
            <a:off x="508909" y="7446644"/>
            <a:ext cx="1907771" cy="4114800"/>
          </a:xfrm>
          <a:custGeom>
            <a:avLst/>
            <a:gdLst/>
            <a:ahLst/>
            <a:cxnLst/>
            <a:rect l="l" t="t" r="r" b="b"/>
            <a:pathLst>
              <a:path w="1907771" h="4114800">
                <a:moveTo>
                  <a:pt x="1907771" y="0"/>
                </a:moveTo>
                <a:lnTo>
                  <a:pt x="0" y="0"/>
                </a:lnTo>
                <a:lnTo>
                  <a:pt x="0" y="4114800"/>
                </a:lnTo>
                <a:lnTo>
                  <a:pt x="1907771" y="4114800"/>
                </a:lnTo>
                <a:lnTo>
                  <a:pt x="190777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42956" y="489619"/>
            <a:ext cx="7595012" cy="963862"/>
          </a:xfrm>
          <a:prstGeom prst="rect">
            <a:avLst/>
          </a:prstGeom>
        </p:spPr>
        <p:txBody>
          <a:bodyPr lIns="0" tIns="0" rIns="0" bIns="0" rtlCol="0" anchor="t">
            <a:spAutoFit/>
          </a:bodyPr>
          <a:lstStyle/>
          <a:p>
            <a:pPr algn="ctr">
              <a:lnSpc>
                <a:spcPts val="7804"/>
              </a:lnSpc>
            </a:pPr>
            <a:r>
              <a:rPr lang="en-US" sz="5574">
                <a:solidFill>
                  <a:srgbClr val="3B365F"/>
                </a:solidFill>
                <a:latin typeface="TAN Headline"/>
                <a:ea typeface="TAN Headline"/>
                <a:cs typeface="TAN Headline"/>
                <a:sym typeface="TAN Headline"/>
              </a:rPr>
              <a:t>Paitent’s Page</a:t>
            </a:r>
          </a:p>
        </p:txBody>
      </p:sp>
      <p:pic>
        <p:nvPicPr>
          <p:cNvPr id="4" name="Picture 3">
            <a:extLst>
              <a:ext uri="{FF2B5EF4-FFF2-40B4-BE49-F238E27FC236}">
                <a16:creationId xmlns:a16="http://schemas.microsoft.com/office/drawing/2014/main" id="{6A1A1673-2DA1-DCB7-0B6C-D3D73AAF222C}"/>
              </a:ext>
            </a:extLst>
          </p:cNvPr>
          <p:cNvPicPr>
            <a:picLocks noChangeAspect="1"/>
          </p:cNvPicPr>
          <p:nvPr/>
        </p:nvPicPr>
        <p:blipFill>
          <a:blip r:embed="rId4"/>
          <a:stretch>
            <a:fillRect/>
          </a:stretch>
        </p:blipFill>
        <p:spPr>
          <a:xfrm>
            <a:off x="3048000" y="1471703"/>
            <a:ext cx="13813178" cy="784016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TextBox 2"/>
          <p:cNvSpPr txBox="1"/>
          <p:nvPr/>
        </p:nvSpPr>
        <p:spPr>
          <a:xfrm>
            <a:off x="2124177" y="2422590"/>
            <a:ext cx="11363223" cy="4924425"/>
          </a:xfrm>
          <a:prstGeom prst="rect">
            <a:avLst/>
          </a:prstGeom>
        </p:spPr>
        <p:txBody>
          <a:bodyPr wrap="square" lIns="0" tIns="0" rIns="0" bIns="0" rtlCol="0" anchor="t">
            <a:spAutoFit/>
          </a:bodyPr>
          <a:lstStyle/>
          <a:p>
            <a:r>
              <a:rPr lang="en-US" sz="4000" dirty="0">
                <a:latin typeface="Aptos Narrow" panose="020B0004020202020204" pitchFamily="34" charset="0"/>
              </a:rPr>
              <a:t>Columbia Asia Hospital displays strong and stable financial performance, with consistently high profitability. This solid financial footing provides the flexibility to invest confidently in staff expansion and patient-centered initiatives, ensuring continued growth and operational excellence. It focusses on </a:t>
            </a:r>
            <a:r>
              <a:rPr lang="en-IN" sz="4000" dirty="0">
                <a:latin typeface="Aptos Narrow" panose="020B0004020202020204" pitchFamily="34" charset="0"/>
              </a:rPr>
              <a:t>improving he patient satisfaction score by offering quality treatment with high qualified staff</a:t>
            </a:r>
            <a:endParaRPr lang="en-US" sz="4000" dirty="0"/>
          </a:p>
        </p:txBody>
      </p:sp>
      <p:sp>
        <p:nvSpPr>
          <p:cNvPr id="3" name="Freeform 3"/>
          <p:cNvSpPr/>
          <p:nvPr/>
        </p:nvSpPr>
        <p:spPr>
          <a:xfrm>
            <a:off x="4179070" y="180298"/>
            <a:ext cx="9664684" cy="9898652"/>
          </a:xfrm>
          <a:custGeom>
            <a:avLst/>
            <a:gdLst/>
            <a:ahLst/>
            <a:cxnLst/>
            <a:rect l="l" t="t" r="r" b="b"/>
            <a:pathLst>
              <a:path w="9664684" h="9898652">
                <a:moveTo>
                  <a:pt x="0" y="0"/>
                </a:moveTo>
                <a:lnTo>
                  <a:pt x="9664684" y="0"/>
                </a:lnTo>
                <a:lnTo>
                  <a:pt x="9664684" y="9898653"/>
                </a:lnTo>
                <a:lnTo>
                  <a:pt x="0" y="9898653"/>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573798" y="923925"/>
            <a:ext cx="9927497" cy="953577"/>
          </a:xfrm>
          <a:prstGeom prst="rect">
            <a:avLst/>
          </a:prstGeom>
        </p:spPr>
        <p:txBody>
          <a:bodyPr lIns="0" tIns="0" rIns="0" bIns="0" rtlCol="0" anchor="t">
            <a:spAutoFit/>
          </a:bodyPr>
          <a:lstStyle/>
          <a:p>
            <a:pPr>
              <a:lnSpc>
                <a:spcPts val="7844"/>
              </a:lnSpc>
            </a:pPr>
            <a:r>
              <a:rPr lang="en-US" sz="5602" dirty="0">
                <a:solidFill>
                  <a:schemeClr val="accent6"/>
                </a:solidFill>
                <a:latin typeface="TAN Headline"/>
                <a:ea typeface="TAN Headline"/>
                <a:cs typeface="TAN Headline"/>
                <a:sym typeface="TAN Headline"/>
              </a:rPr>
              <a:t>Conclusion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09C3-9CA6-1BF5-57F4-7B77B17F90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1BE26F6-A293-F542-2068-74E75972A73D}"/>
              </a:ext>
            </a:extLst>
          </p:cNvPr>
          <p:cNvSpPr txBox="1"/>
          <p:nvPr/>
        </p:nvSpPr>
        <p:spPr>
          <a:xfrm>
            <a:off x="419100" y="317501"/>
            <a:ext cx="12458700" cy="1015663"/>
          </a:xfrm>
          <a:prstGeom prst="rect">
            <a:avLst/>
          </a:prstGeom>
          <a:noFill/>
        </p:spPr>
        <p:txBody>
          <a:bodyPr wrap="square" rtlCol="0">
            <a:spAutoFit/>
          </a:bodyPr>
          <a:lstStyle/>
          <a:p>
            <a:r>
              <a:rPr lang="en-IN" sz="6000" b="1" spc="-23" dirty="0">
                <a:solidFill>
                  <a:schemeClr val="accent1">
                    <a:lumMod val="75000"/>
                  </a:schemeClr>
                </a:solidFill>
                <a:latin typeface="Raleway Medium" pitchFamily="2" charset="0"/>
              </a:rPr>
              <a:t>Acknowledgements</a:t>
            </a:r>
            <a:endParaRPr lang="en-IN" sz="6000" dirty="0">
              <a:solidFill>
                <a:schemeClr val="accent1">
                  <a:lumMod val="75000"/>
                </a:schemeClr>
              </a:solidFill>
              <a:latin typeface="Raleway Medium" pitchFamily="2" charset="0"/>
            </a:endParaRPr>
          </a:p>
        </p:txBody>
      </p:sp>
      <p:sp>
        <p:nvSpPr>
          <p:cNvPr id="10" name="TextBox 9">
            <a:extLst>
              <a:ext uri="{FF2B5EF4-FFF2-40B4-BE49-F238E27FC236}">
                <a16:creationId xmlns:a16="http://schemas.microsoft.com/office/drawing/2014/main" id="{7273BFA1-2A8B-6C1B-589D-3FA891B24805}"/>
              </a:ext>
            </a:extLst>
          </p:cNvPr>
          <p:cNvSpPr txBox="1"/>
          <p:nvPr/>
        </p:nvSpPr>
        <p:spPr>
          <a:xfrm>
            <a:off x="800100" y="1866901"/>
            <a:ext cx="5473701" cy="4524315"/>
          </a:xfrm>
          <a:prstGeom prst="rect">
            <a:avLst/>
          </a:prstGeom>
          <a:noFill/>
        </p:spPr>
        <p:txBody>
          <a:bodyPr wrap="square" rtlCol="0">
            <a:spAutoFit/>
          </a:bodyPr>
          <a:lstStyle/>
          <a:p>
            <a:r>
              <a:rPr lang="en-US" sz="3600" b="1" dirty="0">
                <a:solidFill>
                  <a:schemeClr val="accent1">
                    <a:lumMod val="75000"/>
                  </a:schemeClr>
                </a:solidFill>
              </a:rPr>
              <a:t>🏫 Institutional Support</a:t>
            </a:r>
          </a:p>
          <a:p>
            <a:r>
              <a:rPr lang="en-US" sz="3600" dirty="0">
                <a:solidFill>
                  <a:schemeClr val="accent1">
                    <a:lumMod val="75000"/>
                  </a:schemeClr>
                </a:solidFill>
              </a:rPr>
              <a:t>This project was conducted under the guidance and academic framework of </a:t>
            </a:r>
            <a:r>
              <a:rPr lang="en-US" sz="3600" b="1" dirty="0">
                <a:solidFill>
                  <a:schemeClr val="accent1">
                    <a:lumMod val="75000"/>
                  </a:schemeClr>
                </a:solidFill>
              </a:rPr>
              <a:t>Newton School</a:t>
            </a:r>
            <a:r>
              <a:rPr lang="en-US" sz="3600" dirty="0">
                <a:solidFill>
                  <a:schemeClr val="accent1">
                    <a:lumMod val="75000"/>
                  </a:schemeClr>
                </a:solidFill>
              </a:rPr>
              <a:t>, ensuring structured learning and real-world application.</a:t>
            </a:r>
          </a:p>
          <a:p>
            <a:endParaRPr lang="en-IN" sz="3600" dirty="0">
              <a:solidFill>
                <a:schemeClr val="accent1">
                  <a:lumMod val="75000"/>
                </a:schemeClr>
              </a:solidFill>
            </a:endParaRPr>
          </a:p>
        </p:txBody>
      </p:sp>
      <p:sp>
        <p:nvSpPr>
          <p:cNvPr id="11" name="TextBox 10">
            <a:extLst>
              <a:ext uri="{FF2B5EF4-FFF2-40B4-BE49-F238E27FC236}">
                <a16:creationId xmlns:a16="http://schemas.microsoft.com/office/drawing/2014/main" id="{409246B0-D3CD-8E0D-5828-51E7FE4A130C}"/>
              </a:ext>
            </a:extLst>
          </p:cNvPr>
          <p:cNvSpPr txBox="1"/>
          <p:nvPr/>
        </p:nvSpPr>
        <p:spPr>
          <a:xfrm>
            <a:off x="10109198" y="6437383"/>
            <a:ext cx="7378703" cy="3970318"/>
          </a:xfrm>
          <a:prstGeom prst="rect">
            <a:avLst/>
          </a:prstGeom>
          <a:noFill/>
        </p:spPr>
        <p:txBody>
          <a:bodyPr wrap="square" rtlCol="0">
            <a:spAutoFit/>
          </a:bodyPr>
          <a:lstStyle/>
          <a:p>
            <a:r>
              <a:rPr lang="en-US" sz="3600" b="1" dirty="0">
                <a:solidFill>
                  <a:schemeClr val="accent1">
                    <a:lumMod val="75000"/>
                  </a:schemeClr>
                </a:solidFill>
              </a:rPr>
              <a:t>👏 Mentorship Acknowledgement</a:t>
            </a:r>
          </a:p>
          <a:p>
            <a:r>
              <a:rPr lang="en-US" sz="3600" dirty="0">
                <a:solidFill>
                  <a:schemeClr val="accent1">
                    <a:lumMod val="75000"/>
                  </a:schemeClr>
                </a:solidFill>
              </a:rPr>
              <a:t>Heartfelt thanks to all the mentors whose guidance and support were invaluable throughout the analysis process. Your insights made this project possible.</a:t>
            </a:r>
          </a:p>
          <a:p>
            <a:endParaRPr lang="en-IN" sz="3600" dirty="0">
              <a:solidFill>
                <a:schemeClr val="accent1">
                  <a:lumMod val="75000"/>
                </a:schemeClr>
              </a:solidFill>
            </a:endParaRPr>
          </a:p>
        </p:txBody>
      </p:sp>
      <p:pic>
        <p:nvPicPr>
          <p:cNvPr id="13" name="Picture 12">
            <a:extLst>
              <a:ext uri="{FF2B5EF4-FFF2-40B4-BE49-F238E27FC236}">
                <a16:creationId xmlns:a16="http://schemas.microsoft.com/office/drawing/2014/main" id="{9866B651-B928-6AF2-02B4-A7C71D9CA8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07497" y="1194662"/>
            <a:ext cx="7378703" cy="4660037"/>
          </a:xfrm>
          <a:prstGeom prst="rect">
            <a:avLst/>
          </a:prstGeom>
        </p:spPr>
      </p:pic>
      <p:pic>
        <p:nvPicPr>
          <p:cNvPr id="17" name="Picture 16">
            <a:extLst>
              <a:ext uri="{FF2B5EF4-FFF2-40B4-BE49-F238E27FC236}">
                <a16:creationId xmlns:a16="http://schemas.microsoft.com/office/drawing/2014/main" id="{899C4275-0FCC-2A6C-8F2A-FA8A23C854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6051" y="5365319"/>
            <a:ext cx="5257800" cy="5257800"/>
          </a:xfrm>
          <a:prstGeom prst="rect">
            <a:avLst/>
          </a:prstGeom>
        </p:spPr>
      </p:pic>
    </p:spTree>
    <p:extLst>
      <p:ext uri="{BB962C8B-B14F-4D97-AF65-F5344CB8AC3E}">
        <p14:creationId xmlns:p14="http://schemas.microsoft.com/office/powerpoint/2010/main" val="2563752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4" name="Freeform 4"/>
          <p:cNvSpPr/>
          <p:nvPr/>
        </p:nvSpPr>
        <p:spPr>
          <a:xfrm flipH="1">
            <a:off x="1844355" y="5705171"/>
            <a:ext cx="14599291" cy="9163657"/>
          </a:xfrm>
          <a:custGeom>
            <a:avLst/>
            <a:gdLst/>
            <a:ahLst/>
            <a:cxnLst/>
            <a:rect l="l" t="t" r="r" b="b"/>
            <a:pathLst>
              <a:path w="14599291" h="9163657">
                <a:moveTo>
                  <a:pt x="14599290" y="0"/>
                </a:moveTo>
                <a:lnTo>
                  <a:pt x="0" y="0"/>
                </a:lnTo>
                <a:lnTo>
                  <a:pt x="0" y="9163658"/>
                </a:lnTo>
                <a:lnTo>
                  <a:pt x="14599290" y="9163658"/>
                </a:lnTo>
                <a:lnTo>
                  <a:pt x="145992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5216366" y="5042801"/>
            <a:ext cx="4127261" cy="5717869"/>
          </a:xfrm>
          <a:custGeom>
            <a:avLst/>
            <a:gdLst/>
            <a:ahLst/>
            <a:cxnLst/>
            <a:rect l="l" t="t" r="r" b="b"/>
            <a:pathLst>
              <a:path w="4127261" h="5717869">
                <a:moveTo>
                  <a:pt x="0" y="0"/>
                </a:moveTo>
                <a:lnTo>
                  <a:pt x="4127262" y="0"/>
                </a:lnTo>
                <a:lnTo>
                  <a:pt x="4127262" y="5717869"/>
                </a:lnTo>
                <a:lnTo>
                  <a:pt x="0" y="57178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144000" y="4573289"/>
            <a:ext cx="4364916" cy="6187381"/>
          </a:xfrm>
          <a:custGeom>
            <a:avLst/>
            <a:gdLst/>
            <a:ahLst/>
            <a:cxnLst/>
            <a:rect l="l" t="t" r="r" b="b"/>
            <a:pathLst>
              <a:path w="4364916" h="6187381">
                <a:moveTo>
                  <a:pt x="0" y="0"/>
                </a:moveTo>
                <a:lnTo>
                  <a:pt x="4364916" y="0"/>
                </a:lnTo>
                <a:lnTo>
                  <a:pt x="4364916" y="6187381"/>
                </a:lnTo>
                <a:lnTo>
                  <a:pt x="0" y="61873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487407" y="6174334"/>
            <a:ext cx="3531385" cy="3815463"/>
          </a:xfrm>
          <a:custGeom>
            <a:avLst/>
            <a:gdLst/>
            <a:ahLst/>
            <a:cxnLst/>
            <a:rect l="l" t="t" r="r" b="b"/>
            <a:pathLst>
              <a:path w="3531385" h="3815463">
                <a:moveTo>
                  <a:pt x="0" y="0"/>
                </a:moveTo>
                <a:lnTo>
                  <a:pt x="3531386" y="0"/>
                </a:lnTo>
                <a:lnTo>
                  <a:pt x="3531386" y="3815463"/>
                </a:lnTo>
                <a:lnTo>
                  <a:pt x="0" y="381546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H="1">
            <a:off x="12543402" y="6083768"/>
            <a:ext cx="3531385" cy="3815463"/>
          </a:xfrm>
          <a:custGeom>
            <a:avLst/>
            <a:gdLst/>
            <a:ahLst/>
            <a:cxnLst/>
            <a:rect l="l" t="t" r="r" b="b"/>
            <a:pathLst>
              <a:path w="3531385" h="3815463">
                <a:moveTo>
                  <a:pt x="3531386" y="0"/>
                </a:moveTo>
                <a:lnTo>
                  <a:pt x="0" y="0"/>
                </a:lnTo>
                <a:lnTo>
                  <a:pt x="0" y="3815463"/>
                </a:lnTo>
                <a:lnTo>
                  <a:pt x="3531386" y="3815463"/>
                </a:lnTo>
                <a:lnTo>
                  <a:pt x="3531386"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538390" y="606533"/>
            <a:ext cx="1828678" cy="1399770"/>
          </a:xfrm>
          <a:custGeom>
            <a:avLst/>
            <a:gdLst/>
            <a:ahLst/>
            <a:cxnLst/>
            <a:rect l="l" t="t" r="r" b="b"/>
            <a:pathLst>
              <a:path w="1828678" h="1399770">
                <a:moveTo>
                  <a:pt x="0" y="0"/>
                </a:moveTo>
                <a:lnTo>
                  <a:pt x="1828678" y="0"/>
                </a:lnTo>
                <a:lnTo>
                  <a:pt x="1828678" y="1399770"/>
                </a:lnTo>
                <a:lnTo>
                  <a:pt x="0" y="13997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1" name="Group 11"/>
          <p:cNvGrpSpPr/>
          <p:nvPr/>
        </p:nvGrpSpPr>
        <p:grpSpPr>
          <a:xfrm>
            <a:off x="4460558" y="573066"/>
            <a:ext cx="627698" cy="634365"/>
            <a:chOff x="0" y="0"/>
            <a:chExt cx="836930" cy="845820"/>
          </a:xfrm>
        </p:grpSpPr>
        <p:sp>
          <p:nvSpPr>
            <p:cNvPr id="12" name="Freeform 12"/>
            <p:cNvSpPr/>
            <p:nvPr/>
          </p:nvSpPr>
          <p:spPr>
            <a:xfrm>
              <a:off x="45720" y="48260"/>
              <a:ext cx="746760" cy="748030"/>
            </a:xfrm>
            <a:custGeom>
              <a:avLst/>
              <a:gdLst/>
              <a:ahLst/>
              <a:cxnLst/>
              <a:rect l="l" t="t" r="r" b="b"/>
              <a:pathLst>
                <a:path w="746760" h="748030">
                  <a:moveTo>
                    <a:pt x="541020" y="712470"/>
                  </a:moveTo>
                  <a:cubicBezTo>
                    <a:pt x="17780" y="205740"/>
                    <a:pt x="15240" y="201930"/>
                    <a:pt x="10160" y="186690"/>
                  </a:cubicBezTo>
                  <a:cubicBezTo>
                    <a:pt x="3810" y="163830"/>
                    <a:pt x="0" y="124460"/>
                    <a:pt x="8890" y="99060"/>
                  </a:cubicBezTo>
                  <a:cubicBezTo>
                    <a:pt x="16510" y="72390"/>
                    <a:pt x="38100" y="44450"/>
                    <a:pt x="59690" y="27940"/>
                  </a:cubicBezTo>
                  <a:cubicBezTo>
                    <a:pt x="82550" y="11430"/>
                    <a:pt x="116840" y="1270"/>
                    <a:pt x="143510" y="2540"/>
                  </a:cubicBezTo>
                  <a:cubicBezTo>
                    <a:pt x="171450" y="3810"/>
                    <a:pt x="207010" y="20320"/>
                    <a:pt x="226060" y="33020"/>
                  </a:cubicBezTo>
                  <a:cubicBezTo>
                    <a:pt x="240030" y="43180"/>
                    <a:pt x="247650" y="52070"/>
                    <a:pt x="255270" y="66040"/>
                  </a:cubicBezTo>
                  <a:cubicBezTo>
                    <a:pt x="266700" y="87630"/>
                    <a:pt x="275590" y="128270"/>
                    <a:pt x="275590" y="151130"/>
                  </a:cubicBezTo>
                  <a:cubicBezTo>
                    <a:pt x="275590" y="168910"/>
                    <a:pt x="273050" y="180340"/>
                    <a:pt x="265430" y="194310"/>
                  </a:cubicBezTo>
                  <a:cubicBezTo>
                    <a:pt x="254000" y="215900"/>
                    <a:pt x="229870" y="246380"/>
                    <a:pt x="205740" y="259080"/>
                  </a:cubicBezTo>
                  <a:cubicBezTo>
                    <a:pt x="181610" y="273050"/>
                    <a:pt x="143510" y="276860"/>
                    <a:pt x="120650" y="275590"/>
                  </a:cubicBezTo>
                  <a:cubicBezTo>
                    <a:pt x="102870" y="274320"/>
                    <a:pt x="91440" y="270510"/>
                    <a:pt x="77470" y="261620"/>
                  </a:cubicBezTo>
                  <a:cubicBezTo>
                    <a:pt x="57150" y="250190"/>
                    <a:pt x="27940" y="224790"/>
                    <a:pt x="16510" y="199390"/>
                  </a:cubicBezTo>
                  <a:cubicBezTo>
                    <a:pt x="3810" y="175260"/>
                    <a:pt x="0" y="139700"/>
                    <a:pt x="5080" y="113030"/>
                  </a:cubicBezTo>
                  <a:cubicBezTo>
                    <a:pt x="10160" y="86360"/>
                    <a:pt x="27940" y="55880"/>
                    <a:pt x="48260" y="36830"/>
                  </a:cubicBezTo>
                  <a:cubicBezTo>
                    <a:pt x="69850" y="19050"/>
                    <a:pt x="105410" y="6350"/>
                    <a:pt x="129540" y="2540"/>
                  </a:cubicBezTo>
                  <a:cubicBezTo>
                    <a:pt x="146050" y="0"/>
                    <a:pt x="157480" y="1270"/>
                    <a:pt x="173990" y="6350"/>
                  </a:cubicBezTo>
                  <a:cubicBezTo>
                    <a:pt x="195580" y="13970"/>
                    <a:pt x="214630" y="27940"/>
                    <a:pt x="246380" y="54610"/>
                  </a:cubicBezTo>
                  <a:cubicBezTo>
                    <a:pt x="337820" y="129540"/>
                    <a:pt x="645160" y="457200"/>
                    <a:pt x="708660" y="537210"/>
                  </a:cubicBezTo>
                  <a:cubicBezTo>
                    <a:pt x="726440" y="560070"/>
                    <a:pt x="734060" y="566420"/>
                    <a:pt x="739140" y="585470"/>
                  </a:cubicBezTo>
                  <a:cubicBezTo>
                    <a:pt x="745490" y="609600"/>
                    <a:pt x="746760" y="646430"/>
                    <a:pt x="736600" y="671830"/>
                  </a:cubicBezTo>
                  <a:cubicBezTo>
                    <a:pt x="726440" y="695960"/>
                    <a:pt x="698500" y="722630"/>
                    <a:pt x="676910" y="734060"/>
                  </a:cubicBezTo>
                  <a:cubicBezTo>
                    <a:pt x="659130" y="744220"/>
                    <a:pt x="641350" y="748030"/>
                    <a:pt x="621030" y="746760"/>
                  </a:cubicBezTo>
                  <a:cubicBezTo>
                    <a:pt x="595630" y="744220"/>
                    <a:pt x="541020" y="712470"/>
                    <a:pt x="541020" y="712470"/>
                  </a:cubicBezTo>
                </a:path>
              </a:pathLst>
            </a:custGeom>
            <a:solidFill>
              <a:srgbClr val="88A3CE"/>
            </a:solidFill>
            <a:ln cap="sq">
              <a:noFill/>
              <a:prstDash val="solid"/>
              <a:miter/>
            </a:ln>
          </p:spPr>
        </p:sp>
      </p:grpSp>
      <p:grpSp>
        <p:nvGrpSpPr>
          <p:cNvPr id="13" name="Group 13"/>
          <p:cNvGrpSpPr/>
          <p:nvPr/>
        </p:nvGrpSpPr>
        <p:grpSpPr>
          <a:xfrm>
            <a:off x="5068253" y="483531"/>
            <a:ext cx="296228" cy="615315"/>
            <a:chOff x="0" y="0"/>
            <a:chExt cx="394970" cy="820420"/>
          </a:xfrm>
        </p:grpSpPr>
        <p:sp>
          <p:nvSpPr>
            <p:cNvPr id="14" name="Freeform 14"/>
            <p:cNvSpPr/>
            <p:nvPr/>
          </p:nvSpPr>
          <p:spPr>
            <a:xfrm>
              <a:off x="48260" y="49530"/>
              <a:ext cx="311150" cy="722630"/>
            </a:xfrm>
            <a:custGeom>
              <a:avLst/>
              <a:gdLst/>
              <a:ahLst/>
              <a:cxnLst/>
              <a:rect l="l" t="t" r="r" b="b"/>
              <a:pathLst>
                <a:path w="311150" h="722630">
                  <a:moveTo>
                    <a:pt x="66040" y="626110"/>
                  </a:moveTo>
                  <a:cubicBezTo>
                    <a:pt x="2540" y="208280"/>
                    <a:pt x="11430" y="87630"/>
                    <a:pt x="33020" y="48260"/>
                  </a:cubicBezTo>
                  <a:cubicBezTo>
                    <a:pt x="40640" y="31750"/>
                    <a:pt x="49530" y="27940"/>
                    <a:pt x="63500" y="20320"/>
                  </a:cubicBezTo>
                  <a:cubicBezTo>
                    <a:pt x="83820" y="10160"/>
                    <a:pt x="118110" y="0"/>
                    <a:pt x="143510" y="2540"/>
                  </a:cubicBezTo>
                  <a:cubicBezTo>
                    <a:pt x="168910" y="5080"/>
                    <a:pt x="199390" y="19050"/>
                    <a:pt x="218440" y="36830"/>
                  </a:cubicBezTo>
                  <a:cubicBezTo>
                    <a:pt x="237490" y="53340"/>
                    <a:pt x="252730" y="82550"/>
                    <a:pt x="257810" y="107950"/>
                  </a:cubicBezTo>
                  <a:cubicBezTo>
                    <a:pt x="261620" y="133350"/>
                    <a:pt x="256540" y="166370"/>
                    <a:pt x="245110" y="189230"/>
                  </a:cubicBezTo>
                  <a:cubicBezTo>
                    <a:pt x="232410" y="212090"/>
                    <a:pt x="204470" y="234950"/>
                    <a:pt x="185420" y="246380"/>
                  </a:cubicBezTo>
                  <a:cubicBezTo>
                    <a:pt x="172720" y="254000"/>
                    <a:pt x="161290" y="256540"/>
                    <a:pt x="146050" y="257810"/>
                  </a:cubicBezTo>
                  <a:cubicBezTo>
                    <a:pt x="124460" y="257810"/>
                    <a:pt x="85090" y="250190"/>
                    <a:pt x="66040" y="240030"/>
                  </a:cubicBezTo>
                  <a:cubicBezTo>
                    <a:pt x="52070" y="233680"/>
                    <a:pt x="43180" y="226060"/>
                    <a:pt x="34290" y="214630"/>
                  </a:cubicBezTo>
                  <a:cubicBezTo>
                    <a:pt x="20320" y="196850"/>
                    <a:pt x="6350" y="160020"/>
                    <a:pt x="2540" y="138430"/>
                  </a:cubicBezTo>
                  <a:cubicBezTo>
                    <a:pt x="0" y="123190"/>
                    <a:pt x="1270" y="111760"/>
                    <a:pt x="7620" y="96520"/>
                  </a:cubicBezTo>
                  <a:cubicBezTo>
                    <a:pt x="13970" y="76200"/>
                    <a:pt x="31750" y="44450"/>
                    <a:pt x="52070" y="29210"/>
                  </a:cubicBezTo>
                  <a:cubicBezTo>
                    <a:pt x="72390" y="12700"/>
                    <a:pt x="107950" y="3810"/>
                    <a:pt x="129540" y="1270"/>
                  </a:cubicBezTo>
                  <a:cubicBezTo>
                    <a:pt x="146050" y="0"/>
                    <a:pt x="156210" y="2540"/>
                    <a:pt x="171450" y="7620"/>
                  </a:cubicBezTo>
                  <a:cubicBezTo>
                    <a:pt x="191770" y="16510"/>
                    <a:pt x="222250" y="35560"/>
                    <a:pt x="236220" y="57150"/>
                  </a:cubicBezTo>
                  <a:cubicBezTo>
                    <a:pt x="251460" y="78740"/>
                    <a:pt x="260350" y="110490"/>
                    <a:pt x="259080" y="135890"/>
                  </a:cubicBezTo>
                  <a:cubicBezTo>
                    <a:pt x="257810" y="161290"/>
                    <a:pt x="227330" y="210820"/>
                    <a:pt x="229870" y="212090"/>
                  </a:cubicBezTo>
                  <a:cubicBezTo>
                    <a:pt x="231140" y="213360"/>
                    <a:pt x="243840" y="182880"/>
                    <a:pt x="250190" y="185420"/>
                  </a:cubicBezTo>
                  <a:cubicBezTo>
                    <a:pt x="273050" y="191770"/>
                    <a:pt x="311150" y="562610"/>
                    <a:pt x="294640" y="636270"/>
                  </a:cubicBezTo>
                  <a:cubicBezTo>
                    <a:pt x="289560" y="661670"/>
                    <a:pt x="280670" y="670560"/>
                    <a:pt x="266700" y="684530"/>
                  </a:cubicBezTo>
                  <a:cubicBezTo>
                    <a:pt x="248920" y="701040"/>
                    <a:pt x="217170" y="717550"/>
                    <a:pt x="190500" y="720090"/>
                  </a:cubicBezTo>
                  <a:cubicBezTo>
                    <a:pt x="165100" y="722630"/>
                    <a:pt x="132080" y="712470"/>
                    <a:pt x="110490" y="695960"/>
                  </a:cubicBezTo>
                  <a:cubicBezTo>
                    <a:pt x="90170" y="680720"/>
                    <a:pt x="66040" y="626110"/>
                    <a:pt x="66040" y="626110"/>
                  </a:cubicBezTo>
                </a:path>
              </a:pathLst>
            </a:custGeom>
            <a:solidFill>
              <a:srgbClr val="88A3CE"/>
            </a:solidFill>
            <a:ln cap="sq">
              <a:noFill/>
              <a:prstDash val="solid"/>
              <a:miter/>
            </a:ln>
          </p:spPr>
        </p:sp>
      </p:grpSp>
      <p:grpSp>
        <p:nvGrpSpPr>
          <p:cNvPr id="15" name="Group 15"/>
          <p:cNvGrpSpPr/>
          <p:nvPr/>
        </p:nvGrpSpPr>
        <p:grpSpPr>
          <a:xfrm>
            <a:off x="4470082" y="1228386"/>
            <a:ext cx="592455" cy="303847"/>
            <a:chOff x="0" y="0"/>
            <a:chExt cx="789940" cy="405130"/>
          </a:xfrm>
        </p:grpSpPr>
        <p:sp>
          <p:nvSpPr>
            <p:cNvPr id="16" name="Freeform 16"/>
            <p:cNvSpPr/>
            <p:nvPr/>
          </p:nvSpPr>
          <p:spPr>
            <a:xfrm>
              <a:off x="48260" y="48260"/>
              <a:ext cx="692150" cy="309880"/>
            </a:xfrm>
            <a:custGeom>
              <a:avLst/>
              <a:gdLst/>
              <a:ahLst/>
              <a:cxnLst/>
              <a:rect l="l" t="t" r="r" b="b"/>
              <a:pathLst>
                <a:path w="692150" h="309880">
                  <a:moveTo>
                    <a:pt x="553720" y="278130"/>
                  </a:moveTo>
                  <a:cubicBezTo>
                    <a:pt x="351790" y="256540"/>
                    <a:pt x="271780" y="250190"/>
                    <a:pt x="234950" y="262890"/>
                  </a:cubicBezTo>
                  <a:cubicBezTo>
                    <a:pt x="214630" y="270510"/>
                    <a:pt x="210820" y="288290"/>
                    <a:pt x="191770" y="294640"/>
                  </a:cubicBezTo>
                  <a:cubicBezTo>
                    <a:pt x="170180" y="303530"/>
                    <a:pt x="133350" y="309880"/>
                    <a:pt x="106680" y="303530"/>
                  </a:cubicBezTo>
                  <a:cubicBezTo>
                    <a:pt x="80010" y="297180"/>
                    <a:pt x="49530" y="275590"/>
                    <a:pt x="33020" y="259080"/>
                  </a:cubicBezTo>
                  <a:cubicBezTo>
                    <a:pt x="21590" y="246380"/>
                    <a:pt x="16510" y="234950"/>
                    <a:pt x="11430" y="220980"/>
                  </a:cubicBezTo>
                  <a:cubicBezTo>
                    <a:pt x="6350" y="207010"/>
                    <a:pt x="1270" y="194310"/>
                    <a:pt x="2540" y="177800"/>
                  </a:cubicBezTo>
                  <a:cubicBezTo>
                    <a:pt x="3810" y="154940"/>
                    <a:pt x="10160" y="118110"/>
                    <a:pt x="26670" y="95250"/>
                  </a:cubicBezTo>
                  <a:cubicBezTo>
                    <a:pt x="41910" y="73660"/>
                    <a:pt x="69850" y="52070"/>
                    <a:pt x="95250" y="44450"/>
                  </a:cubicBezTo>
                  <a:cubicBezTo>
                    <a:pt x="120650" y="35560"/>
                    <a:pt x="158750" y="39370"/>
                    <a:pt x="181610" y="45720"/>
                  </a:cubicBezTo>
                  <a:cubicBezTo>
                    <a:pt x="196850" y="49530"/>
                    <a:pt x="207010" y="54610"/>
                    <a:pt x="219710" y="66040"/>
                  </a:cubicBezTo>
                  <a:cubicBezTo>
                    <a:pt x="236220" y="81280"/>
                    <a:pt x="260350" y="111760"/>
                    <a:pt x="266700" y="137160"/>
                  </a:cubicBezTo>
                  <a:cubicBezTo>
                    <a:pt x="274320" y="163830"/>
                    <a:pt x="271780" y="198120"/>
                    <a:pt x="261620" y="223520"/>
                  </a:cubicBezTo>
                  <a:cubicBezTo>
                    <a:pt x="251460" y="248920"/>
                    <a:pt x="228600" y="274320"/>
                    <a:pt x="205740" y="288290"/>
                  </a:cubicBezTo>
                  <a:cubicBezTo>
                    <a:pt x="181610" y="302260"/>
                    <a:pt x="148590" y="309880"/>
                    <a:pt x="120650" y="306070"/>
                  </a:cubicBezTo>
                  <a:cubicBezTo>
                    <a:pt x="93980" y="303530"/>
                    <a:pt x="63500" y="288290"/>
                    <a:pt x="43180" y="269240"/>
                  </a:cubicBezTo>
                  <a:cubicBezTo>
                    <a:pt x="24130" y="250190"/>
                    <a:pt x="8890" y="215900"/>
                    <a:pt x="3810" y="193040"/>
                  </a:cubicBezTo>
                  <a:cubicBezTo>
                    <a:pt x="0" y="176530"/>
                    <a:pt x="0" y="165100"/>
                    <a:pt x="3810" y="148590"/>
                  </a:cubicBezTo>
                  <a:cubicBezTo>
                    <a:pt x="10160" y="127000"/>
                    <a:pt x="29210" y="93980"/>
                    <a:pt x="45720" y="73660"/>
                  </a:cubicBezTo>
                  <a:cubicBezTo>
                    <a:pt x="59690" y="55880"/>
                    <a:pt x="71120" y="43180"/>
                    <a:pt x="93980" y="31750"/>
                  </a:cubicBezTo>
                  <a:cubicBezTo>
                    <a:pt x="132080" y="13970"/>
                    <a:pt x="207010" y="6350"/>
                    <a:pt x="264160" y="2540"/>
                  </a:cubicBezTo>
                  <a:cubicBezTo>
                    <a:pt x="322580" y="0"/>
                    <a:pt x="383540" y="7620"/>
                    <a:pt x="441960" y="15240"/>
                  </a:cubicBezTo>
                  <a:cubicBezTo>
                    <a:pt x="501650" y="22860"/>
                    <a:pt x="575310" y="27940"/>
                    <a:pt x="617220" y="49530"/>
                  </a:cubicBezTo>
                  <a:cubicBezTo>
                    <a:pt x="645160" y="63500"/>
                    <a:pt x="666750" y="86360"/>
                    <a:pt x="678180" y="106680"/>
                  </a:cubicBezTo>
                  <a:cubicBezTo>
                    <a:pt x="688340" y="124460"/>
                    <a:pt x="692150" y="143510"/>
                    <a:pt x="690880" y="162560"/>
                  </a:cubicBezTo>
                  <a:cubicBezTo>
                    <a:pt x="688340" y="186690"/>
                    <a:pt x="674370" y="222250"/>
                    <a:pt x="657860" y="241300"/>
                  </a:cubicBezTo>
                  <a:cubicBezTo>
                    <a:pt x="645160" y="256540"/>
                    <a:pt x="627380" y="266700"/>
                    <a:pt x="610870" y="273050"/>
                  </a:cubicBezTo>
                  <a:cubicBezTo>
                    <a:pt x="593090" y="278130"/>
                    <a:pt x="553720" y="278130"/>
                    <a:pt x="553720" y="278130"/>
                  </a:cubicBezTo>
                </a:path>
              </a:pathLst>
            </a:custGeom>
            <a:solidFill>
              <a:srgbClr val="88A3CE"/>
            </a:solidFill>
            <a:ln cap="sq">
              <a:noFill/>
              <a:prstDash val="solid"/>
              <a:miter/>
            </a:ln>
          </p:spPr>
        </p:sp>
      </p:grpSp>
      <p:grpSp>
        <p:nvGrpSpPr>
          <p:cNvPr id="17" name="Group 17"/>
          <p:cNvGrpSpPr/>
          <p:nvPr/>
        </p:nvGrpSpPr>
        <p:grpSpPr>
          <a:xfrm rot="-5466542">
            <a:off x="13171488" y="957477"/>
            <a:ext cx="552469" cy="522858"/>
            <a:chOff x="0" y="0"/>
            <a:chExt cx="900430" cy="852170"/>
          </a:xfrm>
        </p:grpSpPr>
        <p:sp>
          <p:nvSpPr>
            <p:cNvPr id="18" name="Freeform 18"/>
            <p:cNvSpPr/>
            <p:nvPr/>
          </p:nvSpPr>
          <p:spPr>
            <a:xfrm>
              <a:off x="45720" y="48260"/>
              <a:ext cx="807720" cy="755650"/>
            </a:xfrm>
            <a:custGeom>
              <a:avLst/>
              <a:gdLst/>
              <a:ahLst/>
              <a:cxnLst/>
              <a:rect l="l" t="t" r="r" b="b"/>
              <a:pathLst>
                <a:path w="807720" h="755650">
                  <a:moveTo>
                    <a:pt x="208280" y="41910"/>
                  </a:moveTo>
                  <a:cubicBezTo>
                    <a:pt x="571500" y="396240"/>
                    <a:pt x="746760" y="495300"/>
                    <a:pt x="786130" y="544830"/>
                  </a:cubicBezTo>
                  <a:cubicBezTo>
                    <a:pt x="798830" y="561340"/>
                    <a:pt x="800100" y="568960"/>
                    <a:pt x="802640" y="585470"/>
                  </a:cubicBezTo>
                  <a:cubicBezTo>
                    <a:pt x="806450" y="608330"/>
                    <a:pt x="805180" y="646430"/>
                    <a:pt x="795020" y="671830"/>
                  </a:cubicBezTo>
                  <a:cubicBezTo>
                    <a:pt x="783590" y="697230"/>
                    <a:pt x="759460" y="722630"/>
                    <a:pt x="735330" y="735330"/>
                  </a:cubicBezTo>
                  <a:cubicBezTo>
                    <a:pt x="711200" y="749300"/>
                    <a:pt x="676910" y="755650"/>
                    <a:pt x="650240" y="750570"/>
                  </a:cubicBezTo>
                  <a:cubicBezTo>
                    <a:pt x="622300" y="746760"/>
                    <a:pt x="591820" y="731520"/>
                    <a:pt x="572770" y="711200"/>
                  </a:cubicBezTo>
                  <a:cubicBezTo>
                    <a:pt x="553720" y="692150"/>
                    <a:pt x="539750" y="655320"/>
                    <a:pt x="534670" y="632460"/>
                  </a:cubicBezTo>
                  <a:cubicBezTo>
                    <a:pt x="532130" y="615950"/>
                    <a:pt x="533400" y="603250"/>
                    <a:pt x="537210" y="589280"/>
                  </a:cubicBezTo>
                  <a:cubicBezTo>
                    <a:pt x="539750" y="574040"/>
                    <a:pt x="543560" y="561340"/>
                    <a:pt x="552450" y="547370"/>
                  </a:cubicBezTo>
                  <a:cubicBezTo>
                    <a:pt x="566420" y="528320"/>
                    <a:pt x="593090" y="501650"/>
                    <a:pt x="618490" y="490220"/>
                  </a:cubicBezTo>
                  <a:cubicBezTo>
                    <a:pt x="643890" y="480060"/>
                    <a:pt x="681990" y="480060"/>
                    <a:pt x="704850" y="485140"/>
                  </a:cubicBezTo>
                  <a:cubicBezTo>
                    <a:pt x="721360" y="487680"/>
                    <a:pt x="731520" y="492760"/>
                    <a:pt x="745490" y="502920"/>
                  </a:cubicBezTo>
                  <a:cubicBezTo>
                    <a:pt x="763270" y="516890"/>
                    <a:pt x="789940" y="544830"/>
                    <a:pt x="798830" y="571500"/>
                  </a:cubicBezTo>
                  <a:cubicBezTo>
                    <a:pt x="807720" y="596900"/>
                    <a:pt x="807720" y="632460"/>
                    <a:pt x="800100" y="657860"/>
                  </a:cubicBezTo>
                  <a:cubicBezTo>
                    <a:pt x="791210" y="684530"/>
                    <a:pt x="770890" y="712470"/>
                    <a:pt x="748030" y="727710"/>
                  </a:cubicBezTo>
                  <a:cubicBezTo>
                    <a:pt x="725170" y="744220"/>
                    <a:pt x="688340" y="751840"/>
                    <a:pt x="664210" y="751840"/>
                  </a:cubicBezTo>
                  <a:cubicBezTo>
                    <a:pt x="647700" y="753110"/>
                    <a:pt x="638810" y="749300"/>
                    <a:pt x="621030" y="742950"/>
                  </a:cubicBezTo>
                  <a:cubicBezTo>
                    <a:pt x="594360" y="732790"/>
                    <a:pt x="552450" y="708660"/>
                    <a:pt x="518160" y="684530"/>
                  </a:cubicBezTo>
                  <a:cubicBezTo>
                    <a:pt x="481330" y="659130"/>
                    <a:pt x="450850" y="635000"/>
                    <a:pt x="407670" y="594360"/>
                  </a:cubicBezTo>
                  <a:cubicBezTo>
                    <a:pt x="335280" y="530860"/>
                    <a:pt x="210820" y="405130"/>
                    <a:pt x="139700" y="326390"/>
                  </a:cubicBezTo>
                  <a:cubicBezTo>
                    <a:pt x="87630" y="270510"/>
                    <a:pt x="33020" y="220980"/>
                    <a:pt x="13970" y="175260"/>
                  </a:cubicBezTo>
                  <a:cubicBezTo>
                    <a:pt x="1270" y="144780"/>
                    <a:pt x="0" y="115570"/>
                    <a:pt x="5080" y="91440"/>
                  </a:cubicBezTo>
                  <a:cubicBezTo>
                    <a:pt x="7620" y="72390"/>
                    <a:pt x="19050" y="54610"/>
                    <a:pt x="30480" y="41910"/>
                  </a:cubicBezTo>
                  <a:cubicBezTo>
                    <a:pt x="43180" y="27940"/>
                    <a:pt x="60960" y="16510"/>
                    <a:pt x="77470" y="10160"/>
                  </a:cubicBezTo>
                  <a:cubicBezTo>
                    <a:pt x="95250" y="2540"/>
                    <a:pt x="114300" y="0"/>
                    <a:pt x="134620" y="2540"/>
                  </a:cubicBezTo>
                  <a:cubicBezTo>
                    <a:pt x="157480" y="7620"/>
                    <a:pt x="208280" y="41910"/>
                    <a:pt x="208280" y="41910"/>
                  </a:cubicBezTo>
                </a:path>
              </a:pathLst>
            </a:custGeom>
            <a:solidFill>
              <a:srgbClr val="88A3CE"/>
            </a:solidFill>
            <a:ln cap="sq">
              <a:noFill/>
              <a:prstDash val="solid"/>
              <a:miter/>
            </a:ln>
          </p:spPr>
        </p:sp>
      </p:grpSp>
      <p:grpSp>
        <p:nvGrpSpPr>
          <p:cNvPr id="19" name="Group 19"/>
          <p:cNvGrpSpPr/>
          <p:nvPr/>
        </p:nvGrpSpPr>
        <p:grpSpPr>
          <a:xfrm rot="-5466542">
            <a:off x="12755985" y="971838"/>
            <a:ext cx="621819" cy="241559"/>
            <a:chOff x="0" y="0"/>
            <a:chExt cx="1013460" cy="393700"/>
          </a:xfrm>
        </p:grpSpPr>
        <p:sp>
          <p:nvSpPr>
            <p:cNvPr id="20" name="Freeform 20"/>
            <p:cNvSpPr/>
            <p:nvPr/>
          </p:nvSpPr>
          <p:spPr>
            <a:xfrm>
              <a:off x="49530" y="46990"/>
              <a:ext cx="918210" cy="308610"/>
            </a:xfrm>
            <a:custGeom>
              <a:avLst/>
              <a:gdLst/>
              <a:ahLst/>
              <a:cxnLst/>
              <a:rect l="l" t="t" r="r" b="b"/>
              <a:pathLst>
                <a:path w="918210" h="308610">
                  <a:moveTo>
                    <a:pt x="124460" y="46990"/>
                  </a:moveTo>
                  <a:cubicBezTo>
                    <a:pt x="711200" y="30480"/>
                    <a:pt x="711200" y="19050"/>
                    <a:pt x="726440" y="13970"/>
                  </a:cubicBezTo>
                  <a:cubicBezTo>
                    <a:pt x="749300" y="6350"/>
                    <a:pt x="786130" y="0"/>
                    <a:pt x="812800" y="6350"/>
                  </a:cubicBezTo>
                  <a:cubicBezTo>
                    <a:pt x="839470" y="12700"/>
                    <a:pt x="869950" y="35560"/>
                    <a:pt x="885190" y="52070"/>
                  </a:cubicBezTo>
                  <a:cubicBezTo>
                    <a:pt x="896620" y="63500"/>
                    <a:pt x="902970" y="73660"/>
                    <a:pt x="906780" y="90170"/>
                  </a:cubicBezTo>
                  <a:cubicBezTo>
                    <a:pt x="913130" y="111760"/>
                    <a:pt x="918210" y="149860"/>
                    <a:pt x="909320" y="175260"/>
                  </a:cubicBezTo>
                  <a:cubicBezTo>
                    <a:pt x="901700" y="201930"/>
                    <a:pt x="881380" y="229870"/>
                    <a:pt x="859790" y="246380"/>
                  </a:cubicBezTo>
                  <a:cubicBezTo>
                    <a:pt x="838200" y="261620"/>
                    <a:pt x="801370" y="270510"/>
                    <a:pt x="777240" y="271780"/>
                  </a:cubicBezTo>
                  <a:cubicBezTo>
                    <a:pt x="760730" y="273050"/>
                    <a:pt x="749300" y="270510"/>
                    <a:pt x="735330" y="264160"/>
                  </a:cubicBezTo>
                  <a:cubicBezTo>
                    <a:pt x="713740" y="254000"/>
                    <a:pt x="681990" y="232410"/>
                    <a:pt x="668020" y="209550"/>
                  </a:cubicBezTo>
                  <a:cubicBezTo>
                    <a:pt x="652780" y="186690"/>
                    <a:pt x="643890" y="153670"/>
                    <a:pt x="646430" y="127000"/>
                  </a:cubicBezTo>
                  <a:cubicBezTo>
                    <a:pt x="648970" y="99060"/>
                    <a:pt x="661670" y="67310"/>
                    <a:pt x="679450" y="46990"/>
                  </a:cubicBezTo>
                  <a:cubicBezTo>
                    <a:pt x="698500" y="26670"/>
                    <a:pt x="732790" y="11430"/>
                    <a:pt x="754380" y="5080"/>
                  </a:cubicBezTo>
                  <a:cubicBezTo>
                    <a:pt x="770890" y="0"/>
                    <a:pt x="782320" y="0"/>
                    <a:pt x="798830" y="3810"/>
                  </a:cubicBezTo>
                  <a:cubicBezTo>
                    <a:pt x="820420" y="7620"/>
                    <a:pt x="857250" y="26670"/>
                    <a:pt x="875030" y="40640"/>
                  </a:cubicBezTo>
                  <a:cubicBezTo>
                    <a:pt x="887730" y="52070"/>
                    <a:pt x="895350" y="60960"/>
                    <a:pt x="901700" y="76200"/>
                  </a:cubicBezTo>
                  <a:cubicBezTo>
                    <a:pt x="909320" y="97790"/>
                    <a:pt x="918210" y="134620"/>
                    <a:pt x="913130" y="161290"/>
                  </a:cubicBezTo>
                  <a:cubicBezTo>
                    <a:pt x="908050" y="187960"/>
                    <a:pt x="896620" y="217170"/>
                    <a:pt x="871220" y="236220"/>
                  </a:cubicBezTo>
                  <a:cubicBezTo>
                    <a:pt x="829310" y="269240"/>
                    <a:pt x="735330" y="284480"/>
                    <a:pt x="651510" y="295910"/>
                  </a:cubicBezTo>
                  <a:cubicBezTo>
                    <a:pt x="544830" y="308610"/>
                    <a:pt x="383540" y="297180"/>
                    <a:pt x="279400" y="292100"/>
                  </a:cubicBezTo>
                  <a:cubicBezTo>
                    <a:pt x="204470" y="289560"/>
                    <a:pt x="132080" y="294640"/>
                    <a:pt x="85090" y="278130"/>
                  </a:cubicBezTo>
                  <a:cubicBezTo>
                    <a:pt x="55880" y="265430"/>
                    <a:pt x="33020" y="246380"/>
                    <a:pt x="19050" y="227330"/>
                  </a:cubicBezTo>
                  <a:cubicBezTo>
                    <a:pt x="7620" y="210820"/>
                    <a:pt x="2540" y="191770"/>
                    <a:pt x="1270" y="172720"/>
                  </a:cubicBezTo>
                  <a:cubicBezTo>
                    <a:pt x="0" y="154940"/>
                    <a:pt x="3810" y="134620"/>
                    <a:pt x="11430" y="118110"/>
                  </a:cubicBezTo>
                  <a:cubicBezTo>
                    <a:pt x="19050" y="100330"/>
                    <a:pt x="29210" y="83820"/>
                    <a:pt x="45720" y="72390"/>
                  </a:cubicBezTo>
                  <a:cubicBezTo>
                    <a:pt x="64770" y="58420"/>
                    <a:pt x="124460" y="46990"/>
                    <a:pt x="124460" y="46990"/>
                  </a:cubicBezTo>
                </a:path>
              </a:pathLst>
            </a:custGeom>
            <a:solidFill>
              <a:srgbClr val="88A3CE"/>
            </a:solidFill>
            <a:ln cap="sq">
              <a:noFill/>
              <a:prstDash val="solid"/>
              <a:miter/>
            </a:ln>
          </p:spPr>
        </p:sp>
      </p:grpSp>
      <p:grpSp>
        <p:nvGrpSpPr>
          <p:cNvPr id="21" name="Group 21"/>
          <p:cNvGrpSpPr/>
          <p:nvPr/>
        </p:nvGrpSpPr>
        <p:grpSpPr>
          <a:xfrm rot="-5466542">
            <a:off x="13425147" y="1315976"/>
            <a:ext cx="287533" cy="490131"/>
            <a:chOff x="0" y="0"/>
            <a:chExt cx="468630" cy="798830"/>
          </a:xfrm>
        </p:grpSpPr>
        <p:sp>
          <p:nvSpPr>
            <p:cNvPr id="22" name="Freeform 22"/>
            <p:cNvSpPr/>
            <p:nvPr/>
          </p:nvSpPr>
          <p:spPr>
            <a:xfrm>
              <a:off x="44450" y="43180"/>
              <a:ext cx="379730" cy="706120"/>
            </a:xfrm>
            <a:custGeom>
              <a:avLst/>
              <a:gdLst/>
              <a:ahLst/>
              <a:cxnLst/>
              <a:rect l="l" t="t" r="r" b="b"/>
              <a:pathLst>
                <a:path w="379730" h="706120">
                  <a:moveTo>
                    <a:pt x="236220" y="106680"/>
                  </a:moveTo>
                  <a:cubicBezTo>
                    <a:pt x="299720" y="463550"/>
                    <a:pt x="356870" y="494030"/>
                    <a:pt x="369570" y="533400"/>
                  </a:cubicBezTo>
                  <a:cubicBezTo>
                    <a:pt x="379730" y="562610"/>
                    <a:pt x="377190" y="591820"/>
                    <a:pt x="369570" y="617220"/>
                  </a:cubicBezTo>
                  <a:cubicBezTo>
                    <a:pt x="360680" y="641350"/>
                    <a:pt x="339090" y="668020"/>
                    <a:pt x="317500" y="683260"/>
                  </a:cubicBezTo>
                  <a:cubicBezTo>
                    <a:pt x="295910" y="697230"/>
                    <a:pt x="262890" y="706120"/>
                    <a:pt x="236220" y="703580"/>
                  </a:cubicBezTo>
                  <a:cubicBezTo>
                    <a:pt x="210820" y="702310"/>
                    <a:pt x="179070" y="689610"/>
                    <a:pt x="160020" y="671830"/>
                  </a:cubicBezTo>
                  <a:cubicBezTo>
                    <a:pt x="139700" y="655320"/>
                    <a:pt x="121920" y="626110"/>
                    <a:pt x="116840" y="599440"/>
                  </a:cubicBezTo>
                  <a:cubicBezTo>
                    <a:pt x="111760" y="574040"/>
                    <a:pt x="119380" y="538480"/>
                    <a:pt x="127000" y="516890"/>
                  </a:cubicBezTo>
                  <a:cubicBezTo>
                    <a:pt x="133350" y="501650"/>
                    <a:pt x="139700" y="492760"/>
                    <a:pt x="151130" y="482600"/>
                  </a:cubicBezTo>
                  <a:cubicBezTo>
                    <a:pt x="168910" y="467360"/>
                    <a:pt x="203200" y="449580"/>
                    <a:pt x="226060" y="444500"/>
                  </a:cubicBezTo>
                  <a:cubicBezTo>
                    <a:pt x="241300" y="440690"/>
                    <a:pt x="252730" y="440690"/>
                    <a:pt x="267970" y="444500"/>
                  </a:cubicBezTo>
                  <a:cubicBezTo>
                    <a:pt x="289560" y="449580"/>
                    <a:pt x="325120" y="469900"/>
                    <a:pt x="341630" y="485140"/>
                  </a:cubicBezTo>
                  <a:cubicBezTo>
                    <a:pt x="353060" y="495300"/>
                    <a:pt x="359410" y="504190"/>
                    <a:pt x="364490" y="519430"/>
                  </a:cubicBezTo>
                  <a:cubicBezTo>
                    <a:pt x="372110" y="541020"/>
                    <a:pt x="375920" y="580390"/>
                    <a:pt x="373380" y="603250"/>
                  </a:cubicBezTo>
                  <a:cubicBezTo>
                    <a:pt x="370840" y="618490"/>
                    <a:pt x="365760" y="629920"/>
                    <a:pt x="356870" y="642620"/>
                  </a:cubicBezTo>
                  <a:cubicBezTo>
                    <a:pt x="342900" y="660400"/>
                    <a:pt x="312420" y="685800"/>
                    <a:pt x="292100" y="695960"/>
                  </a:cubicBezTo>
                  <a:cubicBezTo>
                    <a:pt x="278130" y="702310"/>
                    <a:pt x="266700" y="704850"/>
                    <a:pt x="251460" y="704850"/>
                  </a:cubicBezTo>
                  <a:cubicBezTo>
                    <a:pt x="228600" y="703580"/>
                    <a:pt x="198120" y="695960"/>
                    <a:pt x="170180" y="680720"/>
                  </a:cubicBezTo>
                  <a:cubicBezTo>
                    <a:pt x="135890" y="662940"/>
                    <a:pt x="90170" y="631190"/>
                    <a:pt x="67310" y="594360"/>
                  </a:cubicBezTo>
                  <a:cubicBezTo>
                    <a:pt x="43180" y="554990"/>
                    <a:pt x="41910" y="508000"/>
                    <a:pt x="31750" y="449580"/>
                  </a:cubicBezTo>
                  <a:cubicBezTo>
                    <a:pt x="19050" y="364490"/>
                    <a:pt x="0" y="200660"/>
                    <a:pt x="6350" y="130810"/>
                  </a:cubicBezTo>
                  <a:cubicBezTo>
                    <a:pt x="10160" y="95250"/>
                    <a:pt x="15240" y="71120"/>
                    <a:pt x="27940" y="52070"/>
                  </a:cubicBezTo>
                  <a:cubicBezTo>
                    <a:pt x="38100" y="35560"/>
                    <a:pt x="52070" y="22860"/>
                    <a:pt x="69850" y="15240"/>
                  </a:cubicBezTo>
                  <a:cubicBezTo>
                    <a:pt x="91440" y="6350"/>
                    <a:pt x="125730" y="0"/>
                    <a:pt x="151130" y="7620"/>
                  </a:cubicBezTo>
                  <a:cubicBezTo>
                    <a:pt x="175260" y="13970"/>
                    <a:pt x="203200" y="35560"/>
                    <a:pt x="217170" y="54610"/>
                  </a:cubicBezTo>
                  <a:cubicBezTo>
                    <a:pt x="228600" y="69850"/>
                    <a:pt x="236220" y="106680"/>
                    <a:pt x="236220" y="106680"/>
                  </a:cubicBezTo>
                </a:path>
              </a:pathLst>
            </a:custGeom>
            <a:solidFill>
              <a:srgbClr val="88A3CE"/>
            </a:solidFill>
            <a:ln cap="sq">
              <a:noFill/>
              <a:prstDash val="solid"/>
              <a:miter/>
            </a:ln>
          </p:spPr>
        </p:sp>
      </p:grpSp>
      <p:sp>
        <p:nvSpPr>
          <p:cNvPr id="23" name="Freeform 23"/>
          <p:cNvSpPr/>
          <p:nvPr/>
        </p:nvSpPr>
        <p:spPr>
          <a:xfrm>
            <a:off x="15412853" y="-367037"/>
            <a:ext cx="3692894" cy="2316452"/>
          </a:xfrm>
          <a:custGeom>
            <a:avLst/>
            <a:gdLst/>
            <a:ahLst/>
            <a:cxnLst/>
            <a:rect l="l" t="t" r="r" b="b"/>
            <a:pathLst>
              <a:path w="3692894" h="2316452">
                <a:moveTo>
                  <a:pt x="0" y="0"/>
                </a:moveTo>
                <a:lnTo>
                  <a:pt x="3692894" y="0"/>
                </a:lnTo>
                <a:lnTo>
                  <a:pt x="3692894" y="2316451"/>
                </a:lnTo>
                <a:lnTo>
                  <a:pt x="0" y="231645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4" name="Freeform 24"/>
          <p:cNvSpPr/>
          <p:nvPr/>
        </p:nvSpPr>
        <p:spPr>
          <a:xfrm rot="-1008282" flipH="1">
            <a:off x="15390590" y="2224730"/>
            <a:ext cx="2659752" cy="3491322"/>
          </a:xfrm>
          <a:custGeom>
            <a:avLst/>
            <a:gdLst/>
            <a:ahLst/>
            <a:cxnLst/>
            <a:rect l="l" t="t" r="r" b="b"/>
            <a:pathLst>
              <a:path w="2659752" h="3491322">
                <a:moveTo>
                  <a:pt x="2659753" y="0"/>
                </a:moveTo>
                <a:lnTo>
                  <a:pt x="0" y="0"/>
                </a:lnTo>
                <a:lnTo>
                  <a:pt x="0" y="3491322"/>
                </a:lnTo>
                <a:lnTo>
                  <a:pt x="2659753" y="3491322"/>
                </a:lnTo>
                <a:lnTo>
                  <a:pt x="2659753"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5" name="TextBox 25"/>
          <p:cNvSpPr txBox="1"/>
          <p:nvPr/>
        </p:nvSpPr>
        <p:spPr>
          <a:xfrm>
            <a:off x="4335907" y="1216956"/>
            <a:ext cx="9616186" cy="2671180"/>
          </a:xfrm>
          <a:prstGeom prst="rect">
            <a:avLst/>
          </a:prstGeom>
        </p:spPr>
        <p:txBody>
          <a:bodyPr lIns="0" tIns="0" rIns="0" bIns="0" rtlCol="0" anchor="t">
            <a:spAutoFit/>
          </a:bodyPr>
          <a:lstStyle/>
          <a:p>
            <a:pPr algn="ctr">
              <a:lnSpc>
                <a:spcPts val="10780"/>
              </a:lnSpc>
            </a:pPr>
            <a:r>
              <a:rPr lang="en-US" sz="7700" dirty="0">
                <a:solidFill>
                  <a:schemeClr val="accent6"/>
                </a:solidFill>
                <a:latin typeface="TAN Headline"/>
                <a:ea typeface="TAN Headline"/>
                <a:cs typeface="TAN Headline"/>
                <a:sym typeface="TAN Headline"/>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TotalTime>
  <Words>1677</Words>
  <Application>Microsoft Office PowerPoint</Application>
  <PresentationFormat>Custom</PresentationFormat>
  <Paragraphs>169</Paragraphs>
  <Slides>22</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Aptos Narrow</vt:lpstr>
      <vt:lpstr>Seaford Bold</vt:lpstr>
      <vt:lpstr>Coco Gothic Bold</vt:lpstr>
      <vt:lpstr>TAN Headline</vt:lpstr>
      <vt:lpstr>Cambria</vt:lpstr>
      <vt:lpstr>Times New Roman</vt:lpstr>
      <vt:lpstr>Cooper Hewitt</vt:lpstr>
      <vt:lpstr>Alice</vt:lpstr>
      <vt:lpstr>Raleway Medium</vt:lpstr>
      <vt:lpstr>Courier New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Data Analysis &amp; Findings</vt:lpstr>
      <vt:lpstr>Data Analysis &amp; Findings</vt:lpstr>
      <vt:lpstr>Data Analysis &amp; Findings</vt:lpstr>
      <vt:lpstr>Data Analysis &amp; Findings</vt:lpstr>
      <vt:lpstr>Data Analysis &amp; Findings</vt:lpstr>
      <vt:lpstr>Data Analysis &amp; Findings</vt:lpstr>
      <vt:lpstr>Data Analysis &amp; Findings</vt:lpstr>
      <vt:lpstr>Patient Satisfaction Growth</vt:lpstr>
      <vt:lpstr>Staff Hire Strategy </vt:lpstr>
      <vt:lpstr>Discount Strategy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Colombia Asia Hospital</dc:title>
  <dc:creator>Suyash Patil</dc:creator>
  <cp:lastModifiedBy>Suyash Patil</cp:lastModifiedBy>
  <cp:revision>5</cp:revision>
  <dcterms:created xsi:type="dcterms:W3CDTF">2006-08-16T00:00:00Z</dcterms:created>
  <dcterms:modified xsi:type="dcterms:W3CDTF">2025-11-24T07:05:43Z</dcterms:modified>
  <dc:identifier>DAGtzXz19qQ</dc:identifier>
</cp:coreProperties>
</file>